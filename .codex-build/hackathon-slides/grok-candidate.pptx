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b5bc30d384475d" /><Relationship Type="http://schemas.openxmlformats.org/officeDocument/2006/relationships/extended-properties" Target="/docProps/app.xml" Id="R9baddda092574687" /><Relationship Type="http://schemas.openxmlformats.org/officeDocument/2006/relationships/officeDocument" Target="/ppt/presentation.xml" Id="R3890cfef2c1a47a1" /></Relationships>
</file>

<file path=ppt/presentation.xml><?xml version="1.0" encoding="utf-8"?>
<p:presentation xmlns:p="http://schemas.openxmlformats.org/presentationml/2006/main">
  <p:sldMasterIdLst>
    <p:sldMasterId xmlns:r="http://schemas.openxmlformats.org/officeDocument/2006/relationships" id="2147483648" r:id="R03d45dd9f7034b2d"/>
  </p:sldMasterIdLst>
  <p:notesMasterIdLst>
    <p:notesMasterId xmlns:r="http://schemas.openxmlformats.org/officeDocument/2006/relationships" r:id="R714a0df8d1d049f2"/>
  </p:notesMasterIdLst>
  <p:sldIdLst>
    <p:sldId xmlns:r="http://schemas.openxmlformats.org/officeDocument/2006/relationships" id="256" r:id="R5ff61cde421141bc"/>
    <p:sldId xmlns:r="http://schemas.openxmlformats.org/officeDocument/2006/relationships" id="257" r:id="R8ff26d4c43b04da0"/>
    <p:sldId xmlns:r="http://schemas.openxmlformats.org/officeDocument/2006/relationships" id="258" r:id="R5275d9b7ebc3468f"/>
    <p:sldId xmlns:r="http://schemas.openxmlformats.org/officeDocument/2006/relationships" id="259" r:id="R2f1ba7caed2440bc"/>
    <p:sldId xmlns:r="http://schemas.openxmlformats.org/officeDocument/2006/relationships" id="260" r:id="R09005ada133d428e"/>
    <p:sldId xmlns:r="http://schemas.openxmlformats.org/officeDocument/2006/relationships" id="261" r:id="R52a65ab1ad824f69"/>
    <p:sldId xmlns:r="http://schemas.openxmlformats.org/officeDocument/2006/relationships" id="262" r:id="R9f2873ac5c844b20"/>
    <p:sldId xmlns:r="http://schemas.openxmlformats.org/officeDocument/2006/relationships" id="263" r:id="R53ef723888cc4e00"/>
    <p:sldId xmlns:r="http://schemas.openxmlformats.org/officeDocument/2006/relationships" id="264" r:id="Ree2196773ba94742"/>
    <p:sldId xmlns:r="http://schemas.openxmlformats.org/officeDocument/2006/relationships" id="265" r:id="Rc319b191126344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aaab8aba614794" /><Relationship Type="http://schemas.openxmlformats.org/officeDocument/2006/relationships/slideMaster" Target="/ppt/slideMasters/slideMaster1.xml" Id="R03d45dd9f7034b2d" /><Relationship Type="http://schemas.openxmlformats.org/officeDocument/2006/relationships/notesMaster" Target="/ppt/notesMasters/notesMaster1.xml" Id="R714a0df8d1d049f2" /><Relationship Type="http://schemas.openxmlformats.org/officeDocument/2006/relationships/presProps" Target="/ppt/presProps.xml" Id="Rc008a486df2941f5" /><Relationship Type="http://schemas.openxmlformats.org/officeDocument/2006/relationships/tableStyles" Target="/ppt/tableStyles.xml" Id="R86f2e13f451b477b" /><Relationship Type="http://schemas.openxmlformats.org/officeDocument/2006/relationships/slide" Target="/ppt/slides/slide1.xml" Id="R5ff61cde421141bc" /><Relationship Type="http://schemas.openxmlformats.org/officeDocument/2006/relationships/slide" Target="/ppt/slides/slide2.xml" Id="R8ff26d4c43b04da0" /><Relationship Type="http://schemas.openxmlformats.org/officeDocument/2006/relationships/slide" Target="/ppt/slides/slide3.xml" Id="R5275d9b7ebc3468f" /><Relationship Type="http://schemas.openxmlformats.org/officeDocument/2006/relationships/slide" Target="/ppt/slides/slide4.xml" Id="R2f1ba7caed2440bc" /><Relationship Type="http://schemas.openxmlformats.org/officeDocument/2006/relationships/slide" Target="/ppt/slides/slide5.xml" Id="R09005ada133d428e" /><Relationship Type="http://schemas.openxmlformats.org/officeDocument/2006/relationships/slide" Target="/ppt/slides/slide6.xml" Id="R52a65ab1ad824f69" /><Relationship Type="http://schemas.openxmlformats.org/officeDocument/2006/relationships/slide" Target="/ppt/slides/slide7.xml" Id="R9f2873ac5c844b20" /><Relationship Type="http://schemas.openxmlformats.org/officeDocument/2006/relationships/slide" Target="/ppt/slides/slide8.xml" Id="R53ef723888cc4e00" /><Relationship Type="http://schemas.openxmlformats.org/officeDocument/2006/relationships/slide" Target="/ppt/slides/slide9.xml" Id="Ree2196773ba94742" /><Relationship Type="http://schemas.openxmlformats.org/officeDocument/2006/relationships/slide" Target="/ppt/slides/slide10.xml" Id="Rc319b191126344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1c10ddfd3c42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6c770bbade4606" /><Relationship Type="http://schemas.openxmlformats.org/officeDocument/2006/relationships/notesMaster" Target="/ppt/notesMasters/notesMaster1.xml" Id="Rda1440bc7fee44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8bb26e8ed6489e" /><Relationship Type="http://schemas.openxmlformats.org/officeDocument/2006/relationships/notesMaster" Target="/ppt/notesMasters/notesMaster1.xml" Id="R40b62adac16a47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4b6d03b41e4ea5" /><Relationship Type="http://schemas.openxmlformats.org/officeDocument/2006/relationships/notesMaster" Target="/ppt/notesMasters/notesMaster1.xml" Id="R13a6d2ad814f4e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5ecd02351e43fc" /><Relationship Type="http://schemas.openxmlformats.org/officeDocument/2006/relationships/notesMaster" Target="/ppt/notesMasters/notesMaster1.xml" Id="R7d7c694ea2924c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c8564b6b334a63" /><Relationship Type="http://schemas.openxmlformats.org/officeDocument/2006/relationships/notesMaster" Target="/ppt/notesMasters/notesMaster1.xml" Id="R6149a1c6a8ef49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286ae880284c01" /><Relationship Type="http://schemas.openxmlformats.org/officeDocument/2006/relationships/notesMaster" Target="/ppt/notesMasters/notesMaster1.xml" Id="Rcf241af91b2d47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2f1640cae84c64" /><Relationship Type="http://schemas.openxmlformats.org/officeDocument/2006/relationships/notesMaster" Target="/ppt/notesMasters/notesMaster1.xml" Id="R15e36cd3b05440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87a9e6ff034677" /><Relationship Type="http://schemas.openxmlformats.org/officeDocument/2006/relationships/notesMaster" Target="/ppt/notesMasters/notesMaster1.xml" Id="Re5cf4dd55f6d44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aec1f74bc14dfe" /><Relationship Type="http://schemas.openxmlformats.org/officeDocument/2006/relationships/notesMaster" Target="/ppt/notesMasters/notesMaster1.xml" Id="R95cf2fa780f74a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982580a4fcb4327" /><Relationship Type="http://schemas.openxmlformats.org/officeDocument/2006/relationships/notesMaster" Target="/ppt/notesMasters/notesMaster1.xml" Id="R40cf73d0111a4a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overview. Sources: README.md; docs/hardware.md; docs/architecture.md. Hardware photograph: Media/IMG_3596.jpg. Photo preserves the actual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docs/architecture.md, especially Two Pis in practice; docs/hardware.md; web_server.py; BRH_Test/rover_bridge.py; BRH_Test/driveController/driveController.ino. The laptop hosts Flask and CLIP. Separate Pi processes handle drive and camera/lids. TigerData is a remote PostgreSQL service. Hardware photo: Media/IMG_3597.jpg.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classifier.py MODEL_ID, TARGETS, Classifier.predict; classifier_service.py ItemLock.READINGS and LOCK_SECONDS. Default model is openai/clip-vit-large-patch14. The model compares the whole frame with text candidates, including non-target labels. Only four item families are reported. Three or more readings spanning at least 0.5 seconds form a lock. Relative scores are candidate comparisons, not accuracy probabilities. Screenshot: source recording at 167.5 seconds, actual bottle and recycling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classifier_service.py Service.track; lid.py RemoteLid and Lid; lid_server.py; docs/hardware.md. Live locked readings trigger open Trash or open Recyclable through UDP 5006. The lid Pi controls PCA9685 over I2C, channel 0 trash and channel 3 recycling. HOLD_SECONDS=5 after the last reading. Lid automation must be enabled. Photos do not open lids. Image: Media/IMG_3595.jpg.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BRH_Test/rover_bridge.py set_mode, _camera_loop, _watchdog; BRH_Test/voice_control.py DRIVE_TOOL and DIRECTION_TO_CMD; docs/hardware.md. Website directions support keyboard, touch/mouse. Grok voice uses xAI realtime WebSocket and invokes drive_rover. MediaPipe runs locally; wrist-to-index-tip angle is rounded to five degrees and sent over Bluetooth. Wi-Fi receiver supports WASD, not angles. One driving session at a time. Heartbeat loss beyond 1.5 seconds stops/releases rover. Hand image: Media/HandGuestureProof.png.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BRH_Test/voice_control.py SAMPLE_RATE, REALTIME_URL, DRIVE_TOOL, DIRECTION_TO_CMD, VoiceDrive._session and _apply_drive; BRH_Test/rover_bridge.py set_mode, _assisted_command and _send; docs/hardware.md. Voice captures the laptop microphone at 24 kHz PCM16 and streams it to the xAI realtime WebSocket, with model grok-voice-latest. A drive_rover function call maps forward/backward/left/right/stop to w/s/a/d/x. Left and right spin the rover in place. Commands pass through the existing bridge and drive Pi to the Arduino, using Bluetooth serial or Wi-Fi UDP. A requested duration schedules a stop. The bridge checks the driving owner, current voice mode and heartbeat, and gives recent manual input priority. Cloud voice is separate from local CLIP recognition. Screenshot: output/video/assets/voice-reference.jpg, cropped to the actual voice interface. This recorded UI uses demo mode; the screenshot shows the listening controls, not evidence of hardware movement.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BRH_Test/database.py initialize, add_detection, add_collection, bin_contents, empty_bin; dashboard_classifier.py log_detection and auto_recorded; docs/architecture.md Logging and points. Each locked live scan and each photo records item, bin, score, source, time. Unique scan_id avoids duplicate rows as frames repeat. With configured DATABASE_URL the backend uses TigerData PostgreSQL, otherwise SQLite. Lids opening auto-records one collection event per locked scan. The camera does not verify a physical deposit. Photos and disabled lids require manual confirmation. No images stored in the ledger. Screenshot: output/video/assets/live-log-site.png. README.md manual-confirmation wording is older than the current automatic collection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BRH_Test/GEMINI.md; BRH_Test/gemini_guide.py; web/gemini.js. Guide accepts question, optional location and selected photo. Photos are decoded, resized and stripped of EXIF. Submitted content goes to Google Gemini. It is a separate advisory flow with no drive, lid or ledger tools and no live municipal-rule lookup. Screenshot: Media/Gemini-Integration.png.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spectrum/README.md; BRH_Test/companion.py Companion.command and Companion.advice; spectrum/src/index.ts. Photon Spectrum transports iMessage or Telegram messages to the authenticated Python bridge. Dashboard chat shares the same companion. All interfaces read the shared Pilot records. Advice uses xAI with local fallback. Manual collections require an exact confirmation code within five minutes and duplicate request IDs cannot award points twice. The model has no hardware or write tools. Screenshot: user-supplied C:/Users/John/Downloads/Photon.png, cropped to the question and reply. Shown progress counts are from that recorded conversation, not current totals.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brand slide. User-supplied original mascot: C:/Users/John/Downloads/literarlytrash.png, cropped only to transparent bounds. Project sources: docs/architecture.md; classifier_service.py; lid.py; BRH_Test/database.py.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477a16729546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f397ed03dd46ce" /><Relationship Type="http://schemas.openxmlformats.org/officeDocument/2006/relationships/slideLayout" Target="/ppt/slideLayouts/slideLayout1.xml" Id="R341bf92f307845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1bf92f307845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2f42ccf5944f66" /><Relationship Type="http://schemas.openxmlformats.org/officeDocument/2006/relationships/image" Target="/ppt/media/image.png" Id="R32531408a5894170" /><Relationship Type="http://schemas.openxmlformats.org/officeDocument/2006/relationships/image" Target="/ppt/media/image.jpeg" Id="R513b02aa603846a5" /><Relationship Type="http://schemas.openxmlformats.org/officeDocument/2006/relationships/notesSlide" Target="/ppt/notesSlides/notesSlide1.xml" Id="Rd6b904783ffc49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3629ed001eb40b3" /><Relationship Type="http://schemas.openxmlformats.org/officeDocument/2006/relationships/image" Target="/ppt/media/image2.png" Id="Rdb15dcc92784482b" /><Relationship Type="http://schemas.openxmlformats.org/officeDocument/2006/relationships/image" Target="/ppt/media/image2.jpeg" Id="R4863e60744264952" /><Relationship Type="http://schemas.openxmlformats.org/officeDocument/2006/relationships/notesSlide" Target="/ppt/notesSlides/notesSlide2.xml" Id="R5351107258a743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d28bef159c4d03" /><Relationship Type="http://schemas.openxmlformats.org/officeDocument/2006/relationships/image" Target="/ppt/media/image3.png" Id="Rae18ac22c6ee463e" /><Relationship Type="http://schemas.openxmlformats.org/officeDocument/2006/relationships/image" Target="/ppt/media/image4.png" Id="Re1f607f9f331413c" /><Relationship Type="http://schemas.openxmlformats.org/officeDocument/2006/relationships/notesSlide" Target="/ppt/notesSlides/notesSlide3.xml" Id="R1a258b8cd0f948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705aa84aa6436b" /><Relationship Type="http://schemas.openxmlformats.org/officeDocument/2006/relationships/image" Target="/ppt/media/image5.png" Id="Ra596bb44a4a14eb5" /><Relationship Type="http://schemas.openxmlformats.org/officeDocument/2006/relationships/image" Target="/ppt/media/image3.jpeg" Id="R4c6b038ec74144bf" /><Relationship Type="http://schemas.openxmlformats.org/officeDocument/2006/relationships/notesSlide" Target="/ppt/notesSlides/notesSlide4.xml" Id="Rce685d43856a4e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1c51282b3a4006" /><Relationship Type="http://schemas.openxmlformats.org/officeDocument/2006/relationships/image" Target="/ppt/media/image6.png" Id="R2413bac397854aaf" /><Relationship Type="http://schemas.openxmlformats.org/officeDocument/2006/relationships/image" Target="/ppt/media/image7.png" Id="Rdfa6499ca7024a6e" /><Relationship Type="http://schemas.openxmlformats.org/officeDocument/2006/relationships/notesSlide" Target="/ppt/notesSlides/notesSlide5.xml" Id="R8b20c56172bc47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8058b82b174739" /><Relationship Type="http://schemas.openxmlformats.org/officeDocument/2006/relationships/image" Target="/ppt/media/image8.png" Id="Rbf780e02080647f5" /><Relationship Type="http://schemas.openxmlformats.org/officeDocument/2006/relationships/image" Target="/ppt/media/image9.png" Id="R6cae9445e14c4129" /><Relationship Type="http://schemas.openxmlformats.org/officeDocument/2006/relationships/notesSlide" Target="/ppt/notesSlides/notesSlide6.xml" Id="R470e2b68546c44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e13aa53632f4933" /><Relationship Type="http://schemas.openxmlformats.org/officeDocument/2006/relationships/image" Target="/ppt/media/image10.png" Id="Rd7d7ea6fdfcd4a44" /><Relationship Type="http://schemas.openxmlformats.org/officeDocument/2006/relationships/image" Target="/ppt/media/image11.png" Id="R68205ae33bc54b0a" /><Relationship Type="http://schemas.openxmlformats.org/officeDocument/2006/relationships/notesSlide" Target="/ppt/notesSlides/notesSlide7.xml" Id="R9f3ee9e3565841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756121df23346e8" /><Relationship Type="http://schemas.openxmlformats.org/officeDocument/2006/relationships/image" Target="/ppt/media/image12.png" Id="R80f38b4a38d84d78" /><Relationship Type="http://schemas.openxmlformats.org/officeDocument/2006/relationships/image" Target="/ppt/media/image13.png" Id="Rc70440f625e1417b" /><Relationship Type="http://schemas.openxmlformats.org/officeDocument/2006/relationships/notesSlide" Target="/ppt/notesSlides/notesSlide8.xml" Id="Rd95fb7b3507f48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58f6df5172b4ca6" /><Relationship Type="http://schemas.openxmlformats.org/officeDocument/2006/relationships/image" Target="/ppt/media/image14.png" Id="R17b5ae041a084430" /><Relationship Type="http://schemas.openxmlformats.org/officeDocument/2006/relationships/image" Target="/ppt/media/image15.png" Id="R3eca8573e9b74173" /><Relationship Type="http://schemas.openxmlformats.org/officeDocument/2006/relationships/notesSlide" Target="/ppt/notesSlides/notesSlide9.xml" Id="Raa56350414c8499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86ae5d5d38a4bb1" /><Relationship Type="http://schemas.openxmlformats.org/officeDocument/2006/relationships/image" Target="/ppt/media/image16.png" Id="Re7a013f6320c442c" /><Relationship Type="http://schemas.openxmlformats.org/officeDocument/2006/relationships/image" Target="/ppt/media/image17.png" Id="Rfcfdd51d9a8e4dc9" /><Relationship Type="http://schemas.openxmlformats.org/officeDocument/2006/relationships/notesSlide" Target="/ppt/notesSlides/notesSlide10.xml" Id="Ra26919c34b624f08" /></Relationships>
</file>

<file path=ppt/slides/slide1.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2531408a5894170"/>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C1D4E34-17A3-45B7-886F-88D560D0EC2D}"/>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5FA5F730-3598-4F7A-AB6B-2FE79871BEF3}"/>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4" name="">
            <a:extLst xmlns:a="http://schemas.openxmlformats.org/drawingml/2006/main">
              <a:ext uri="{FF2B5EF4-FFF2-40B4-BE49-F238E27FC236}">
                <a16:creationId xmlns:a16="http://schemas.microsoft.com/office/drawing/2014/main" id="{B3390628-173B-4DEB-A280-8462EF4507F0}"/>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8A7174D-0426-40E4-90AE-2ACA4E65A7B7}"/>
              </a:ext>
            </a:extLst>
          </p:cNvPr>
          <p:cNvSpPr>
            <a:spLocks xmlns:a="http://schemas.openxmlformats.org/drawingml/2006/main" noGrp="1"/>
          </p:cNvSpPr>
          <p:nvPr/>
        </p:nvSpPr>
        <p:spPr>
          <a:xfrm xmlns:a="http://schemas.openxmlformats.org/drawingml/2006/main">
            <a:off x="523875" y="1657350"/>
            <a:ext cx="60483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6000" b="1">
                <a:solidFill>
                  <a:srgbClr val="EFF7F4"/>
                </a:solidFill>
                <a:latin typeface="Arial"/>
                <a:ea typeface="Arial"/>
                <a:cs typeface="Arial"/>
              </a:defRPr>
            </a:pPr>
            <a:r>
              <a:rPr sz="6000" b="1">
                <a:solidFill>
                  <a:srgbClr val="EFF7F4"/>
                </a:solidFill>
                <a:latin typeface="Arial"/>
                <a:ea typeface="Arial"/>
                <a:cs typeface="Arial"/>
              </a:rPr>
              <a:t>Recognize.</a:t>
            </a:r>
          </a:p>
          <a:p xmlns:a="http://schemas.openxmlformats.org/drawingml/2006/main">
            <a:pPr>
              <a:buNone/>
              <a:defRPr sz="6000" b="1">
                <a:solidFill>
                  <a:srgbClr val="EFF7F4"/>
                </a:solidFill>
                <a:latin typeface="Arial"/>
                <a:ea typeface="Arial"/>
                <a:cs typeface="Arial"/>
              </a:defRPr>
            </a:pPr>
            <a:r>
              <a:rPr sz="6000" b="1">
                <a:solidFill>
                  <a:srgbClr val="EFF7F4"/>
                </a:solidFill>
                <a:latin typeface="Arial"/>
                <a:ea typeface="Arial"/>
                <a:cs typeface="Arial"/>
              </a:rPr>
              <a:t>Sort.</a:t>
            </a:r>
          </a:p>
          <a:p xmlns:a="http://schemas.openxmlformats.org/drawingml/2006/main">
            <a:pPr>
              <a:buNone/>
              <a:defRPr sz="6000" b="1">
                <a:solidFill>
                  <a:srgbClr val="EFF7F4"/>
                </a:solidFill>
                <a:latin typeface="Arial"/>
                <a:ea typeface="Arial"/>
                <a:cs typeface="Arial"/>
              </a:defRPr>
            </a:pPr>
            <a:r>
              <a:rPr sz="6000" b="1">
                <a:solidFill>
                  <a:srgbClr val="EFF7F4"/>
                </a:solidFill>
                <a:latin typeface="Arial"/>
                <a:ea typeface="Arial"/>
                <a:cs typeface="Arial"/>
              </a:rPr>
              <a:t>Connect.</a:t>
            </a:r>
          </a:p>
        </p:txBody>
      </p:sp>
      <p:sp>
        <p:nvSpPr>
          <p:cNvPr id="6" name="">
            <a:extLst xmlns:a="http://schemas.openxmlformats.org/drawingml/2006/main">
              <a:ext uri="{FF2B5EF4-FFF2-40B4-BE49-F238E27FC236}">
                <a16:creationId xmlns:a16="http://schemas.microsoft.com/office/drawing/2014/main" id="{E94AE3E5-3CE1-4F75-952A-D3CAC42406B9}"/>
              </a:ext>
            </a:extLst>
          </p:cNvPr>
          <p:cNvSpPr>
            <a:spLocks xmlns:a="http://schemas.openxmlformats.org/drawingml/2006/main" noGrp="1"/>
          </p:cNvSpPr>
          <p:nvPr/>
        </p:nvSpPr>
        <p:spPr>
          <a:xfrm xmlns:a="http://schemas.openxmlformats.org/drawingml/2006/main">
            <a:off x="523875" y="4933950"/>
            <a:ext cx="619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175" b="0">
                <a:solidFill>
                  <a:srgbClr val="A3B8B6"/>
                </a:solidFill>
                <a:latin typeface="Arial"/>
                <a:ea typeface="Arial"/>
                <a:cs typeface="Arial"/>
              </a:defRPr>
            </a:pPr>
            <a:r>
              <a:rPr sz="2175" b="0">
                <a:solidFill>
                  <a:srgbClr val="A3B8B6"/>
                </a:solidFill>
                <a:latin typeface="Arial"/>
                <a:ea typeface="Arial"/>
                <a:cs typeface="Arial"/>
              </a:rPr>
              <a:t>A mobile trash-sorting rover</a:t>
            </a:r>
          </a:p>
          <a:p xmlns:a="http://schemas.openxmlformats.org/drawingml/2006/main">
            <a:pPr>
              <a:buNone/>
              <a:defRPr sz="2175" b="0">
                <a:solidFill>
                  <a:srgbClr val="A3B8B6"/>
                </a:solidFill>
                <a:latin typeface="Arial"/>
                <a:ea typeface="Arial"/>
                <a:cs typeface="Arial"/>
              </a:defRPr>
            </a:pPr>
            <a:r>
              <a:rPr sz="2175" b="0">
                <a:solidFill>
                  <a:srgbClr val="A3B8B6"/>
                </a:solidFill>
                <a:latin typeface="Arial"/>
                <a:ea typeface="Arial"/>
                <a:cs typeface="Arial"/>
              </a:rPr>
              <a:t>with local vision and a shared dashboard.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13b02aa603846a5"/>
          <a:srcRect xmlns:a="http://schemas.openxmlformats.org/drawingml/2006/main" l="2419" t="0" r="2419" b="0"/>
          <a:stretch xmlns:a="http://schemas.openxmlformats.org/drawingml/2006/main">
            <a:fillRect l="0" t="0" r="0" b="0"/>
          </a:stretch>
        </p:blipFill>
        <p:spPr>
          <a:xfrm xmlns:a="http://schemas.openxmlformats.org/drawingml/2006/main">
            <a:off x="7096125" y="428625"/>
            <a:ext cx="4572000" cy="5572125"/>
          </a:xfrm>
          <a:prstGeom xmlns:a="http://schemas.openxmlformats.org/drawingml/2006/main" prst="rect">
            <a:avLst/>
          </a:prstGeom>
        </p:spPr>
      </p:pic>
    </p:spTree>
    <p:extLst>
      <p:ext uri="{BB962C8B-B14F-4D97-AF65-F5344CB8AC3E}">
        <p14:creationId xmlns:p14="http://schemas.microsoft.com/office/powerpoint/2010/main" val="1231044684"/>
      </p:ext>
    </p:extLst>
  </p:cSld>
</p:sld>
</file>

<file path=ppt/slides/slide2.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b15dcc92784482b"/>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08C106C-DD25-4595-9A4F-2735D09A4D4B}"/>
              </a:ext>
            </a:extLst>
          </p:cNvPr>
          <p:cNvSpPr>
            <a:spLocks xmlns:a="http://schemas.openxmlformats.org/drawingml/2006/main" noGrp="1"/>
          </p:cNvSpPr>
          <p:nvPr/>
        </p:nvSpPr>
        <p:spPr>
          <a:xfrm xmlns:a="http://schemas.openxmlformats.org/drawingml/2006/main">
            <a:off x="523875" y="11811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3750" b="1">
                <a:solidFill>
                  <a:srgbClr val="EFF7F4"/>
                </a:solidFill>
                <a:latin typeface="Arial"/>
                <a:ea typeface="Arial"/>
                <a:cs typeface="Arial"/>
              </a:defRPr>
            </a:pPr>
            <a:r>
              <a:rPr sz="3750" b="1">
                <a:solidFill>
                  <a:srgbClr val="EFF7F4"/>
                </a:solidFill>
                <a:latin typeface="Arial"/>
                <a:ea typeface="Arial"/>
                <a:cs typeface="Arial"/>
              </a:rPr>
              <a:t>The software and hardware</a:t>
            </a:r>
          </a:p>
        </p:txBody>
      </p:sp>
      <p:sp>
        <p:nvSpPr>
          <p:cNvPr id="3" name="">
            <a:extLst xmlns:a="http://schemas.openxmlformats.org/drawingml/2006/main">
              <a:ext uri="{FF2B5EF4-FFF2-40B4-BE49-F238E27FC236}">
                <a16:creationId xmlns:a16="http://schemas.microsoft.com/office/drawing/2014/main" id="{06DA7EC2-04BC-423B-B974-4DF76F77221C}"/>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8137CE2F-4A43-4D8D-B246-3081FEF75737}"/>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5" name="">
            <a:extLst xmlns:a="http://schemas.openxmlformats.org/drawingml/2006/main">
              <a:ext uri="{FF2B5EF4-FFF2-40B4-BE49-F238E27FC236}">
                <a16:creationId xmlns:a16="http://schemas.microsoft.com/office/drawing/2014/main" id="{F653FF66-C99A-4155-8032-F85A3F0C4BAC}"/>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1B1C2272-861C-455D-9AA5-8AD8FA0F0DBF}"/>
              </a:ext>
            </a:extLst>
          </p:cNvPr>
          <p:cNvSpPr>
            <a:spLocks xmlns:a="http://schemas.openxmlformats.org/drawingml/2006/main" noGrp="1"/>
          </p:cNvSpPr>
          <p:nvPr/>
        </p:nvSpPr>
        <p:spPr>
          <a:xfrm xmlns:a="http://schemas.openxmlformats.org/drawingml/2006/main">
            <a:off x="523875" y="21526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LAPTOP</a:t>
            </a:r>
          </a:p>
        </p:txBody>
      </p:sp>
      <p:sp>
        <p:nvSpPr>
          <p:cNvPr id="7" name="">
            <a:extLst xmlns:a="http://schemas.openxmlformats.org/drawingml/2006/main">
              <a:ext uri="{FF2B5EF4-FFF2-40B4-BE49-F238E27FC236}">
                <a16:creationId xmlns:a16="http://schemas.microsoft.com/office/drawing/2014/main" id="{29C1860A-7CC5-480C-AE93-AB3759EC82D7}"/>
              </a:ext>
            </a:extLst>
          </p:cNvPr>
          <p:cNvSpPr>
            <a:spLocks xmlns:a="http://schemas.openxmlformats.org/drawingml/2006/main" noGrp="1"/>
          </p:cNvSpPr>
          <p:nvPr/>
        </p:nvSpPr>
        <p:spPr>
          <a:xfrm xmlns:a="http://schemas.openxmlformats.org/drawingml/2006/main">
            <a:off x="523875" y="2562225"/>
            <a:ext cx="700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Flask serves the dashboard.</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CLIP runs inference on the laptop.</a:t>
            </a:r>
          </a:p>
        </p:txBody>
      </p:sp>
      <p:sp>
        <p:nvSpPr>
          <p:cNvPr id="8" name="">
            <a:extLst xmlns:a="http://schemas.openxmlformats.org/drawingml/2006/main">
              <a:ext uri="{FF2B5EF4-FFF2-40B4-BE49-F238E27FC236}">
                <a16:creationId xmlns:a16="http://schemas.microsoft.com/office/drawing/2014/main" id="{5E9DEBE0-1729-4A7C-8991-26CAA46DA812}"/>
              </a:ext>
            </a:extLst>
          </p:cNvPr>
          <p:cNvSpPr>
            <a:spLocks xmlns:a="http://schemas.openxmlformats.org/drawingml/2006/main" noGrp="1"/>
          </p:cNvSpPr>
          <p:nvPr/>
        </p:nvSpPr>
        <p:spPr>
          <a:xfrm xmlns:a="http://schemas.openxmlformats.org/drawingml/2006/main">
            <a:off x="523875" y="34480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TWO RASPBERRY PIS</a:t>
            </a:r>
          </a:p>
        </p:txBody>
      </p:sp>
      <p:sp>
        <p:nvSpPr>
          <p:cNvPr id="9" name="">
            <a:extLst xmlns:a="http://schemas.openxmlformats.org/drawingml/2006/main">
              <a:ext uri="{FF2B5EF4-FFF2-40B4-BE49-F238E27FC236}">
                <a16:creationId xmlns:a16="http://schemas.microsoft.com/office/drawing/2014/main" id="{C1B191DD-0FF2-49D3-A8B7-3E836C0408A3}"/>
              </a:ext>
            </a:extLst>
          </p:cNvPr>
          <p:cNvSpPr>
            <a:spLocks xmlns:a="http://schemas.openxmlformats.org/drawingml/2006/main" noGrp="1"/>
          </p:cNvSpPr>
          <p:nvPr/>
        </p:nvSpPr>
        <p:spPr>
          <a:xfrm xmlns:a="http://schemas.openxmlformats.org/drawingml/2006/main">
            <a:off x="523875" y="3857625"/>
            <a:ext cx="700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One relays drive commands.</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The other streams the camera and moves lids.</a:t>
            </a:r>
          </a:p>
        </p:txBody>
      </p:sp>
      <p:sp>
        <p:nvSpPr>
          <p:cNvPr id="10" name="">
            <a:extLst xmlns:a="http://schemas.openxmlformats.org/drawingml/2006/main">
              <a:ext uri="{FF2B5EF4-FFF2-40B4-BE49-F238E27FC236}">
                <a16:creationId xmlns:a16="http://schemas.microsoft.com/office/drawing/2014/main" id="{F0156CC7-4007-444E-82A3-9258FD730878}"/>
              </a:ext>
            </a:extLst>
          </p:cNvPr>
          <p:cNvSpPr>
            <a:spLocks xmlns:a="http://schemas.openxmlformats.org/drawingml/2006/main" noGrp="1"/>
          </p:cNvSpPr>
          <p:nvPr/>
        </p:nvSpPr>
        <p:spPr>
          <a:xfrm xmlns:a="http://schemas.openxmlformats.org/drawingml/2006/main">
            <a:off x="523875" y="47434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ARDUINO + CNC SHIELD</a:t>
            </a:r>
          </a:p>
        </p:txBody>
      </p:sp>
      <p:sp>
        <p:nvSpPr>
          <p:cNvPr id="11" name="">
            <a:extLst xmlns:a="http://schemas.openxmlformats.org/drawingml/2006/main">
              <a:ext uri="{FF2B5EF4-FFF2-40B4-BE49-F238E27FC236}">
                <a16:creationId xmlns:a16="http://schemas.microsoft.com/office/drawing/2014/main" id="{B703DE28-4DA4-466D-A7B5-FB25DA0E7830}"/>
              </a:ext>
            </a:extLst>
          </p:cNvPr>
          <p:cNvSpPr>
            <a:spLocks xmlns:a="http://schemas.openxmlformats.org/drawingml/2006/main" noGrp="1"/>
          </p:cNvSpPr>
          <p:nvPr/>
        </p:nvSpPr>
        <p:spPr>
          <a:xfrm xmlns:a="http://schemas.openxmlformats.org/drawingml/2006/main">
            <a:off x="523875" y="5153025"/>
            <a:ext cx="700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USB serial reaches the motor controller.</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Four steppers drive the mecanum wheels.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863e60744264952"/>
          <a:srcRect xmlns:a="http://schemas.openxmlformats.org/drawingml/2006/main" l="0" t="11600" r="0" b="11600"/>
          <a:stretch xmlns:a="http://schemas.openxmlformats.org/drawingml/2006/main">
            <a:fillRect l="0" t="0" r="0" b="0"/>
          </a:stretch>
        </p:blipFill>
        <p:spPr>
          <a:xfrm xmlns:a="http://schemas.openxmlformats.org/drawingml/2006/main">
            <a:off x="8096250" y="2095500"/>
            <a:ext cx="3571875" cy="3886200"/>
          </a:xfrm>
          <a:prstGeom xmlns:a="http://schemas.openxmlformats.org/drawingml/2006/main" prst="rect">
            <a:avLst/>
          </a:prstGeom>
        </p:spPr>
      </p:pic>
    </p:spTree>
    <p:extLst>
      <p:ext uri="{BB962C8B-B14F-4D97-AF65-F5344CB8AC3E}">
        <p14:creationId xmlns:p14="http://schemas.microsoft.com/office/powerpoint/2010/main" val="81041837"/>
      </p:ext>
    </p:extLst>
  </p:cSld>
</p:sld>
</file>

<file path=ppt/slides/slide3.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e18ac22c6ee463e"/>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9D1C9FF-F894-4785-BA64-ED7E7F469E6D}"/>
              </a:ext>
            </a:extLst>
          </p:cNvPr>
          <p:cNvSpPr>
            <a:spLocks xmlns:a="http://schemas.openxmlformats.org/drawingml/2006/main" noGrp="1"/>
          </p:cNvSpPr>
          <p:nvPr/>
        </p:nvSpPr>
        <p:spPr>
          <a:xfrm xmlns:a="http://schemas.openxmlformats.org/drawingml/2006/main">
            <a:off x="523875" y="11811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3750" b="1">
                <a:solidFill>
                  <a:srgbClr val="EFF7F4"/>
                </a:solidFill>
                <a:latin typeface="Arial"/>
                <a:ea typeface="Arial"/>
                <a:cs typeface="Arial"/>
              </a:defRPr>
            </a:pPr>
            <a:r>
              <a:rPr sz="3750" b="1">
                <a:solidFill>
                  <a:srgbClr val="EFF7F4"/>
                </a:solidFill>
                <a:latin typeface="Arial"/>
                <a:ea typeface="Arial"/>
                <a:cs typeface="Arial"/>
              </a:rPr>
              <a:t>Local CLIP recognition</a:t>
            </a:r>
          </a:p>
        </p:txBody>
      </p:sp>
      <p:sp>
        <p:nvSpPr>
          <p:cNvPr id="3" name="">
            <a:extLst xmlns:a="http://schemas.openxmlformats.org/drawingml/2006/main">
              <a:ext uri="{FF2B5EF4-FFF2-40B4-BE49-F238E27FC236}">
                <a16:creationId xmlns:a16="http://schemas.microsoft.com/office/drawing/2014/main" id="{E30F8AFE-DFDF-4688-8D0D-9A6D24CEF33A}"/>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0C2774CB-60DC-4734-89BF-C37C3C50F7DB}"/>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5" name="">
            <a:extLst xmlns:a="http://schemas.openxmlformats.org/drawingml/2006/main">
              <a:ext uri="{FF2B5EF4-FFF2-40B4-BE49-F238E27FC236}">
                <a16:creationId xmlns:a16="http://schemas.microsoft.com/office/drawing/2014/main" id="{4A73C45E-AFAC-42DD-93B3-9090DB67B27C}"/>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8E21D6FE-8D78-4545-BDFC-89D6623417FE}"/>
              </a:ext>
            </a:extLst>
          </p:cNvPr>
          <p:cNvSpPr>
            <a:spLocks xmlns:a="http://schemas.openxmlformats.org/drawingml/2006/main" noGrp="1"/>
          </p:cNvSpPr>
          <p:nvPr/>
        </p:nvSpPr>
        <p:spPr>
          <a:xfrm xmlns:a="http://schemas.openxmlformats.org/drawingml/2006/main">
            <a:off x="523875" y="2143125"/>
            <a:ext cx="4095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175" b="0">
                <a:solidFill>
                  <a:srgbClr val="A3B8B6"/>
                </a:solidFill>
                <a:latin typeface="Arial"/>
                <a:ea typeface="Arial"/>
                <a:cs typeface="Arial"/>
              </a:defRPr>
            </a:pPr>
            <a:r>
              <a:rPr sz="2175" b="0">
                <a:solidFill>
                  <a:srgbClr val="A3B8B6"/>
                </a:solidFill>
                <a:latin typeface="Arial"/>
                <a:ea typeface="Arial"/>
                <a:cs typeface="Arial"/>
              </a:rPr>
              <a:t>The laptop compares camera</a:t>
            </a:r>
          </a:p>
          <a:p xmlns:a="http://schemas.openxmlformats.org/drawingml/2006/main">
            <a:pPr>
              <a:buNone/>
              <a:defRPr sz="2175" b="0">
                <a:solidFill>
                  <a:srgbClr val="A3B8B6"/>
                </a:solidFill>
                <a:latin typeface="Arial"/>
                <a:ea typeface="Arial"/>
                <a:cs typeface="Arial"/>
              </a:defRPr>
            </a:pPr>
            <a:r>
              <a:rPr sz="2175" b="0">
                <a:solidFill>
                  <a:srgbClr val="A3B8B6"/>
                </a:solidFill>
                <a:latin typeface="Arial"/>
                <a:ea typeface="Arial"/>
                <a:cs typeface="Arial"/>
              </a:rPr>
              <a:t>frames with text labels.</a:t>
            </a:r>
          </a:p>
        </p:txBody>
      </p:sp>
      <p:sp>
        <p:nvSpPr>
          <p:cNvPr id="7" name="">
            <a:extLst xmlns:a="http://schemas.openxmlformats.org/drawingml/2006/main">
              <a:ext uri="{FF2B5EF4-FFF2-40B4-BE49-F238E27FC236}">
                <a16:creationId xmlns:a16="http://schemas.microsoft.com/office/drawing/2014/main" id="{CDE71003-076D-4843-8904-725267655B6E}"/>
              </a:ext>
            </a:extLst>
          </p:cNvPr>
          <p:cNvSpPr>
            <a:spLocks xmlns:a="http://schemas.openxmlformats.org/drawingml/2006/main" noGrp="1"/>
          </p:cNvSpPr>
          <p:nvPr/>
        </p:nvSpPr>
        <p:spPr>
          <a:xfrm xmlns:a="http://schemas.openxmlformats.org/drawingml/2006/main">
            <a:off x="523875" y="3171825"/>
            <a:ext cx="4048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1">
                <a:solidFill>
                  <a:srgbClr val="EFF7F4"/>
                </a:solidFill>
                <a:latin typeface="Arial"/>
                <a:ea typeface="Arial"/>
                <a:cs typeface="Arial"/>
              </a:defRPr>
            </a:pPr>
            <a:r>
              <a:rPr sz="1875" b="1">
                <a:solidFill>
                  <a:srgbClr val="EFF7F4"/>
                </a:solidFill>
                <a:latin typeface="Arial"/>
                <a:ea typeface="Arial"/>
                <a:cs typeface="Arial"/>
              </a:rPr>
              <a:t>CLIP ViT-L/14</a:t>
            </a:r>
          </a:p>
        </p:txBody>
      </p:sp>
      <p:sp>
        <p:nvSpPr>
          <p:cNvPr id="8" name="">
            <a:extLst xmlns:a="http://schemas.openxmlformats.org/drawingml/2006/main">
              <a:ext uri="{FF2B5EF4-FFF2-40B4-BE49-F238E27FC236}">
                <a16:creationId xmlns:a16="http://schemas.microsoft.com/office/drawing/2014/main" id="{21F3F8B5-0E1C-47BA-A037-DE61B1150DFC}"/>
              </a:ext>
            </a:extLst>
          </p:cNvPr>
          <p:cNvSpPr>
            <a:spLocks xmlns:a="http://schemas.openxmlformats.org/drawingml/2006/main" noGrp="1"/>
          </p:cNvSpPr>
          <p:nvPr/>
        </p:nvSpPr>
        <p:spPr>
          <a:xfrm xmlns:a="http://schemas.openxmlformats.org/drawingml/2006/main">
            <a:off x="523875" y="3829050"/>
            <a:ext cx="404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650" b="1">
                <a:solidFill>
                  <a:srgbClr val="A2EFB6"/>
                </a:solidFill>
                <a:latin typeface="Arial"/>
                <a:ea typeface="Arial"/>
                <a:cs typeface="Arial"/>
              </a:defRPr>
            </a:pPr>
            <a:r>
              <a:rPr sz="1650" b="1">
                <a:solidFill>
                  <a:srgbClr val="A2EFB6"/>
                </a:solidFill>
                <a:latin typeface="Arial"/>
                <a:ea typeface="Arial"/>
                <a:cs typeface="Arial"/>
              </a:rPr>
              <a:t>RECYCLING</a:t>
            </a:r>
          </a:p>
        </p:txBody>
      </p:sp>
      <p:sp>
        <p:nvSpPr>
          <p:cNvPr id="9" name="">
            <a:extLst xmlns:a="http://schemas.openxmlformats.org/drawingml/2006/main">
              <a:ext uri="{FF2B5EF4-FFF2-40B4-BE49-F238E27FC236}">
                <a16:creationId xmlns:a16="http://schemas.microsoft.com/office/drawing/2014/main" id="{AC7498D1-4011-4577-99B8-87AA72CC996A}"/>
              </a:ext>
            </a:extLst>
          </p:cNvPr>
          <p:cNvSpPr>
            <a:spLocks xmlns:a="http://schemas.openxmlformats.org/drawingml/2006/main" noGrp="1"/>
          </p:cNvSpPr>
          <p:nvPr/>
        </p:nvSpPr>
        <p:spPr>
          <a:xfrm xmlns:a="http://schemas.openxmlformats.org/drawingml/2006/main">
            <a:off x="523875" y="4171950"/>
            <a:ext cx="4048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100" b="0">
                <a:solidFill>
                  <a:srgbClr val="EFF7F4"/>
                </a:solidFill>
                <a:latin typeface="Arial"/>
                <a:ea typeface="Arial"/>
                <a:cs typeface="Arial"/>
              </a:defRPr>
            </a:pPr>
            <a:r>
              <a:rPr sz="2100" b="0">
                <a:solidFill>
                  <a:srgbClr val="EFF7F4"/>
                </a:solidFill>
                <a:latin typeface="Arial"/>
                <a:ea typeface="Arial"/>
                <a:cs typeface="Arial"/>
              </a:rPr>
              <a:t>Bottle and cardboard</a:t>
            </a:r>
          </a:p>
        </p:txBody>
      </p:sp>
      <p:sp>
        <p:nvSpPr>
          <p:cNvPr id="10" name="">
            <a:extLst xmlns:a="http://schemas.openxmlformats.org/drawingml/2006/main">
              <a:ext uri="{FF2B5EF4-FFF2-40B4-BE49-F238E27FC236}">
                <a16:creationId xmlns:a16="http://schemas.microsoft.com/office/drawing/2014/main" id="{B8661DD3-239F-4F76-9D77-B97A0AA37090}"/>
              </a:ext>
            </a:extLst>
          </p:cNvPr>
          <p:cNvSpPr>
            <a:spLocks xmlns:a="http://schemas.openxmlformats.org/drawingml/2006/main" noGrp="1"/>
          </p:cNvSpPr>
          <p:nvPr/>
        </p:nvSpPr>
        <p:spPr>
          <a:xfrm xmlns:a="http://schemas.openxmlformats.org/drawingml/2006/main">
            <a:off x="523875" y="4838700"/>
            <a:ext cx="404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650" b="1">
                <a:solidFill>
                  <a:srgbClr val="A2EFB6"/>
                </a:solidFill>
                <a:latin typeface="Arial"/>
                <a:ea typeface="Arial"/>
                <a:cs typeface="Arial"/>
              </a:defRPr>
            </a:pPr>
            <a:r>
              <a:rPr sz="1650" b="1">
                <a:solidFill>
                  <a:srgbClr val="A2EFB6"/>
                </a:solidFill>
                <a:latin typeface="Arial"/>
                <a:ea typeface="Arial"/>
                <a:cs typeface="Arial"/>
              </a:rPr>
              <a:t>TRASH</a:t>
            </a:r>
          </a:p>
        </p:txBody>
      </p:sp>
      <p:sp>
        <p:nvSpPr>
          <p:cNvPr id="11" name="">
            <a:extLst xmlns:a="http://schemas.openxmlformats.org/drawingml/2006/main">
              <a:ext uri="{FF2B5EF4-FFF2-40B4-BE49-F238E27FC236}">
                <a16:creationId xmlns:a16="http://schemas.microsoft.com/office/drawing/2014/main" id="{123C1A5F-C464-4B4D-90DC-EFA445DB582B}"/>
              </a:ext>
            </a:extLst>
          </p:cNvPr>
          <p:cNvSpPr>
            <a:spLocks xmlns:a="http://schemas.openxmlformats.org/drawingml/2006/main" noGrp="1"/>
          </p:cNvSpPr>
          <p:nvPr/>
        </p:nvSpPr>
        <p:spPr>
          <a:xfrm xmlns:a="http://schemas.openxmlformats.org/drawingml/2006/main">
            <a:off x="523875" y="5181600"/>
            <a:ext cx="4048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100" b="0">
                <a:solidFill>
                  <a:srgbClr val="EFF7F4"/>
                </a:solidFill>
                <a:latin typeface="Arial"/>
                <a:ea typeface="Arial"/>
                <a:cs typeface="Arial"/>
              </a:defRPr>
            </a:pPr>
            <a:r>
              <a:rPr sz="2100" b="0">
                <a:solidFill>
                  <a:srgbClr val="EFF7F4"/>
                </a:solidFill>
                <a:latin typeface="Arial"/>
                <a:ea typeface="Arial"/>
                <a:cs typeface="Arial"/>
              </a:rPr>
              <a:t>Paper towel and chip bag</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1f607f9f331413c"/>
          <a:stretch xmlns:a="http://schemas.openxmlformats.org/drawingml/2006/main"/>
        </p:blipFill>
        <p:spPr>
          <a:xfrm xmlns:a="http://schemas.openxmlformats.org/drawingml/2006/main">
            <a:off x="4714875" y="2369772"/>
            <a:ext cx="6953250" cy="266138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B5F8405-A2D9-4EC2-B50B-8A6C2E84CE49}"/>
              </a:ext>
            </a:extLst>
          </p:cNvPr>
          <p:cNvSpPr>
            <a:spLocks xmlns:a="http://schemas.openxmlformats.org/drawingml/2006/main" noGrp="1"/>
          </p:cNvSpPr>
          <p:nvPr/>
        </p:nvSpPr>
        <p:spPr>
          <a:xfrm xmlns:a="http://schemas.openxmlformats.org/drawingml/2006/main">
            <a:off x="4810125" y="5334000"/>
            <a:ext cx="676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Three readings over at least 0.5 seconds</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produce a stable item lock.</a:t>
            </a:r>
          </a:p>
        </p:txBody>
      </p:sp>
      <p:sp>
        <p:nvSpPr>
          <p:cNvPr id="14" name="">
            <a:extLst xmlns:a="http://schemas.openxmlformats.org/drawingml/2006/main">
              <a:ext uri="{FF2B5EF4-FFF2-40B4-BE49-F238E27FC236}">
                <a16:creationId xmlns:a16="http://schemas.microsoft.com/office/drawing/2014/main" id="{0796C213-50D9-4696-B4E3-A41ACE527917}"/>
              </a:ext>
            </a:extLst>
          </p:cNvPr>
          <p:cNvSpPr>
            <a:spLocks xmlns:a="http://schemas.openxmlformats.org/drawingml/2006/main" noGrp="1"/>
          </p:cNvSpPr>
          <p:nvPr/>
        </p:nvSpPr>
        <p:spPr>
          <a:xfrm xmlns:a="http://schemas.openxmlformats.org/drawingml/2006/main">
            <a:off x="523875" y="5972175"/>
            <a:ext cx="1114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350" b="0">
                <a:solidFill>
                  <a:srgbClr val="A3B8B6"/>
                </a:solidFill>
                <a:latin typeface="Arial"/>
                <a:ea typeface="Arial"/>
                <a:cs typeface="Arial"/>
              </a:defRPr>
            </a:pPr>
            <a:r>
              <a:rPr sz="1350" b="0">
                <a:solidFill>
                  <a:srgbClr val="A3B8B6"/>
                </a:solidFill>
                <a:latin typeface="Arial"/>
                <a:ea typeface="Arial"/>
                <a:cs typeface="Arial"/>
              </a:rPr>
              <a:t>Other labels return no supported item. Match scores compare candidates.</a:t>
            </a:r>
          </a:p>
        </p:txBody>
      </p:sp>
    </p:spTree>
    <p:extLst>
      <p:ext uri="{BB962C8B-B14F-4D97-AF65-F5344CB8AC3E}">
        <p14:creationId xmlns:p14="http://schemas.microsoft.com/office/powerpoint/2010/main" val="1257792270"/>
      </p:ext>
    </p:extLst>
  </p:cSld>
</p:sld>
</file>

<file path=ppt/slides/slide4.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596bb44a4a14eb5"/>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8B3B900-2D71-4088-B32F-E21372B6B8BC}"/>
              </a:ext>
            </a:extLst>
          </p:cNvPr>
          <p:cNvSpPr>
            <a:spLocks xmlns:a="http://schemas.openxmlformats.org/drawingml/2006/main" noGrp="1"/>
          </p:cNvSpPr>
          <p:nvPr/>
        </p:nvSpPr>
        <p:spPr>
          <a:xfrm xmlns:a="http://schemas.openxmlformats.org/drawingml/2006/main">
            <a:off x="523875" y="11811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3750" b="1">
                <a:solidFill>
                  <a:srgbClr val="EFF7F4"/>
                </a:solidFill>
                <a:latin typeface="Arial"/>
                <a:ea typeface="Arial"/>
                <a:cs typeface="Arial"/>
              </a:defRPr>
            </a:pPr>
            <a:r>
              <a:rPr sz="3750" b="1">
                <a:solidFill>
                  <a:srgbClr val="EFF7F4"/>
                </a:solidFill>
                <a:latin typeface="Arial"/>
                <a:ea typeface="Arial"/>
                <a:cs typeface="Arial"/>
              </a:rPr>
              <a:t>A detection opens the matching lid</a:t>
            </a:r>
          </a:p>
        </p:txBody>
      </p:sp>
      <p:sp>
        <p:nvSpPr>
          <p:cNvPr id="3" name="">
            <a:extLst xmlns:a="http://schemas.openxmlformats.org/drawingml/2006/main">
              <a:ext uri="{FF2B5EF4-FFF2-40B4-BE49-F238E27FC236}">
                <a16:creationId xmlns:a16="http://schemas.microsoft.com/office/drawing/2014/main" id="{3D106C84-1BA7-48CF-9621-1FEA6FB2B0D7}"/>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7E41292C-DAD4-4F15-9B6A-6C3595282487}"/>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5" name="">
            <a:extLst xmlns:a="http://schemas.openxmlformats.org/drawingml/2006/main">
              <a:ext uri="{FF2B5EF4-FFF2-40B4-BE49-F238E27FC236}">
                <a16:creationId xmlns:a16="http://schemas.microsoft.com/office/drawing/2014/main" id="{DC275CAA-B410-4A49-ACEE-1029BC4D91BA}"/>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20F3ADD4-DF57-4A2A-9DC7-DB3C306D9429}"/>
              </a:ext>
            </a:extLst>
          </p:cNvPr>
          <p:cNvSpPr>
            <a:spLocks xmlns:a="http://schemas.openxmlformats.org/drawingml/2006/main" noGrp="1"/>
          </p:cNvSpPr>
          <p:nvPr/>
        </p:nvSpPr>
        <p:spPr>
          <a:xfrm xmlns:a="http://schemas.openxmlformats.org/drawingml/2006/main">
            <a:off x="523875" y="2171700"/>
            <a:ext cx="657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LIVE ITEM LOCK</a:t>
            </a:r>
          </a:p>
        </p:txBody>
      </p:sp>
      <p:sp>
        <p:nvSpPr>
          <p:cNvPr id="7" name="">
            <a:extLst xmlns:a="http://schemas.openxmlformats.org/drawingml/2006/main">
              <a:ext uri="{FF2B5EF4-FFF2-40B4-BE49-F238E27FC236}">
                <a16:creationId xmlns:a16="http://schemas.microsoft.com/office/drawing/2014/main" id="{270CB53E-B279-4EB2-A61A-8F87F1874749}"/>
              </a:ext>
            </a:extLst>
          </p:cNvPr>
          <p:cNvSpPr>
            <a:spLocks xmlns:a="http://schemas.openxmlformats.org/drawingml/2006/main" noGrp="1"/>
          </p:cNvSpPr>
          <p:nvPr/>
        </p:nvSpPr>
        <p:spPr>
          <a:xfrm xmlns:a="http://schemas.openxmlformats.org/drawingml/2006/main">
            <a:off x="523875" y="2581275"/>
            <a:ext cx="657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The laptop sends the bin command</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over Wi-Fi UDP to the lid Pi.</a:t>
            </a:r>
          </a:p>
        </p:txBody>
      </p:sp>
      <p:sp>
        <p:nvSpPr>
          <p:cNvPr id="8" name="">
            <a:extLst xmlns:a="http://schemas.openxmlformats.org/drawingml/2006/main">
              <a:ext uri="{FF2B5EF4-FFF2-40B4-BE49-F238E27FC236}">
                <a16:creationId xmlns:a16="http://schemas.microsoft.com/office/drawing/2014/main" id="{10644DBD-D6B9-4B36-9F72-620DE849F44D}"/>
              </a:ext>
            </a:extLst>
          </p:cNvPr>
          <p:cNvSpPr>
            <a:spLocks xmlns:a="http://schemas.openxmlformats.org/drawingml/2006/main" noGrp="1"/>
          </p:cNvSpPr>
          <p:nvPr/>
        </p:nvSpPr>
        <p:spPr>
          <a:xfrm xmlns:a="http://schemas.openxmlformats.org/drawingml/2006/main">
            <a:off x="523875" y="3524250"/>
            <a:ext cx="657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CALIBRATED SERVO LIDS</a:t>
            </a:r>
          </a:p>
        </p:txBody>
      </p:sp>
      <p:sp>
        <p:nvSpPr>
          <p:cNvPr id="9" name="">
            <a:extLst xmlns:a="http://schemas.openxmlformats.org/drawingml/2006/main">
              <a:ext uri="{FF2B5EF4-FFF2-40B4-BE49-F238E27FC236}">
                <a16:creationId xmlns:a16="http://schemas.microsoft.com/office/drawing/2014/main" id="{7FDC7C24-D15D-471D-9754-6F820BBE13F7}"/>
              </a:ext>
            </a:extLst>
          </p:cNvPr>
          <p:cNvSpPr>
            <a:spLocks xmlns:a="http://schemas.openxmlformats.org/drawingml/2006/main" noGrp="1"/>
          </p:cNvSpPr>
          <p:nvPr/>
        </p:nvSpPr>
        <p:spPr>
          <a:xfrm xmlns:a="http://schemas.openxmlformats.org/drawingml/2006/main">
            <a:off x="523875" y="3933825"/>
            <a:ext cx="657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The Pi drives the PCA9685 over I²C.</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Each bin has its own servo channel.</a:t>
            </a:r>
          </a:p>
        </p:txBody>
      </p:sp>
      <p:sp>
        <p:nvSpPr>
          <p:cNvPr id="10" name="">
            <a:extLst xmlns:a="http://schemas.openxmlformats.org/drawingml/2006/main">
              <a:ext uri="{FF2B5EF4-FFF2-40B4-BE49-F238E27FC236}">
                <a16:creationId xmlns:a16="http://schemas.microsoft.com/office/drawing/2014/main" id="{87E12FE4-0FC2-409B-A627-955CAC486260}"/>
              </a:ext>
            </a:extLst>
          </p:cNvPr>
          <p:cNvSpPr>
            <a:spLocks xmlns:a="http://schemas.openxmlformats.org/drawingml/2006/main" noGrp="1"/>
          </p:cNvSpPr>
          <p:nvPr/>
        </p:nvSpPr>
        <p:spPr>
          <a:xfrm xmlns:a="http://schemas.openxmlformats.org/drawingml/2006/main">
            <a:off x="523875" y="4876800"/>
            <a:ext cx="657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AUTOMATIC CLOSE</a:t>
            </a:r>
          </a:p>
        </p:txBody>
      </p:sp>
      <p:sp>
        <p:nvSpPr>
          <p:cNvPr id="11" name="">
            <a:extLst xmlns:a="http://schemas.openxmlformats.org/drawingml/2006/main">
              <a:ext uri="{FF2B5EF4-FFF2-40B4-BE49-F238E27FC236}">
                <a16:creationId xmlns:a16="http://schemas.microsoft.com/office/drawing/2014/main" id="{BD9501F5-4394-4392-BFEE-CBFB24B530EA}"/>
              </a:ext>
            </a:extLst>
          </p:cNvPr>
          <p:cNvSpPr>
            <a:spLocks xmlns:a="http://schemas.openxmlformats.org/drawingml/2006/main" noGrp="1"/>
          </p:cNvSpPr>
          <p:nvPr/>
        </p:nvSpPr>
        <p:spPr>
          <a:xfrm xmlns:a="http://schemas.openxmlformats.org/drawingml/2006/main">
            <a:off x="523875" y="5286375"/>
            <a:ext cx="657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The lid stays open for about 5 seconds</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after the last matching reading.</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c6b038ec74144bf"/>
          <a:srcRect xmlns:a="http://schemas.openxmlformats.org/drawingml/2006/main" l="0" t="72" r="0" b="72"/>
          <a:stretch xmlns:a="http://schemas.openxmlformats.org/drawingml/2006/main">
            <a:fillRect l="0" t="0" r="0" b="0"/>
          </a:stretch>
        </p:blipFill>
        <p:spPr>
          <a:xfrm xmlns:a="http://schemas.openxmlformats.org/drawingml/2006/main">
            <a:off x="7762875" y="2181225"/>
            <a:ext cx="3905250" cy="37814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66A6F8C-958C-4161-9B01-5882365744DF}"/>
              </a:ext>
            </a:extLst>
          </p:cNvPr>
          <p:cNvSpPr>
            <a:spLocks xmlns:a="http://schemas.openxmlformats.org/drawingml/2006/main" noGrp="1"/>
          </p:cNvSpPr>
          <p:nvPr/>
        </p:nvSpPr>
        <p:spPr>
          <a:xfrm xmlns:a="http://schemas.openxmlformats.org/drawingml/2006/main">
            <a:off x="523875" y="5991225"/>
            <a:ext cx="1114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350" b="0">
                <a:solidFill>
                  <a:srgbClr val="A3B8B6"/>
                </a:solidFill>
                <a:latin typeface="Arial"/>
                <a:ea typeface="Arial"/>
                <a:cs typeface="Arial"/>
              </a:defRPr>
            </a:pPr>
            <a:r>
              <a:rPr sz="1350" b="0">
                <a:solidFill>
                  <a:srgbClr val="A3B8B6"/>
                </a:solidFill>
                <a:latin typeface="Arial"/>
                <a:ea typeface="Arial"/>
                <a:cs typeface="Arial"/>
              </a:rPr>
              <a:t>Automatic lids use live scans when enabled. Photo uploads do not open lids.</a:t>
            </a:r>
          </a:p>
        </p:txBody>
      </p:sp>
    </p:spTree>
    <p:extLst>
      <p:ext uri="{BB962C8B-B14F-4D97-AF65-F5344CB8AC3E}">
        <p14:creationId xmlns:p14="http://schemas.microsoft.com/office/powerpoint/2010/main" val="1067881698"/>
      </p:ext>
    </p:extLst>
  </p:cSld>
</p:sld>
</file>

<file path=ppt/slides/slide5.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413bac397854aaf"/>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229BD3-DAB4-4999-888B-201194B67261}"/>
              </a:ext>
            </a:extLst>
          </p:cNvPr>
          <p:cNvSpPr>
            <a:spLocks xmlns:a="http://schemas.openxmlformats.org/drawingml/2006/main" noGrp="1"/>
          </p:cNvSpPr>
          <p:nvPr/>
        </p:nvSpPr>
        <p:spPr>
          <a:xfrm xmlns:a="http://schemas.openxmlformats.org/drawingml/2006/main">
            <a:off x="523875" y="11811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3750" b="1">
                <a:solidFill>
                  <a:srgbClr val="EFF7F4"/>
                </a:solidFill>
                <a:latin typeface="Arial"/>
                <a:ea typeface="Arial"/>
                <a:cs typeface="Arial"/>
              </a:defRPr>
            </a:pPr>
            <a:r>
              <a:rPr sz="3750" b="1">
                <a:solidFill>
                  <a:srgbClr val="EFF7F4"/>
                </a:solidFill>
                <a:latin typeface="Arial"/>
                <a:ea typeface="Arial"/>
                <a:cs typeface="Arial"/>
              </a:rPr>
              <a:t>Website, voice and hand controls</a:t>
            </a:r>
          </a:p>
        </p:txBody>
      </p:sp>
      <p:sp>
        <p:nvSpPr>
          <p:cNvPr id="3" name="">
            <a:extLst xmlns:a="http://schemas.openxmlformats.org/drawingml/2006/main">
              <a:ext uri="{FF2B5EF4-FFF2-40B4-BE49-F238E27FC236}">
                <a16:creationId xmlns:a16="http://schemas.microsoft.com/office/drawing/2014/main" id="{6876AE9F-3696-4CA2-B5ED-BC96BF120F9B}"/>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3B6DB957-A6C7-466C-B8F5-24D53D67C66D}"/>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5" name="">
            <a:extLst xmlns:a="http://schemas.openxmlformats.org/drawingml/2006/main">
              <a:ext uri="{FF2B5EF4-FFF2-40B4-BE49-F238E27FC236}">
                <a16:creationId xmlns:a16="http://schemas.microsoft.com/office/drawing/2014/main" id="{3BAB2951-EFD2-44AC-8DD3-8BEE5A1928DD}"/>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8EFE30D9-5ADC-480B-A117-8B117C64C042}"/>
              </a:ext>
            </a:extLst>
          </p:cNvPr>
          <p:cNvSpPr>
            <a:spLocks xmlns:a="http://schemas.openxmlformats.org/drawingml/2006/main" noGrp="1"/>
          </p:cNvSpPr>
          <p:nvPr/>
        </p:nvSpPr>
        <p:spPr>
          <a:xfrm xmlns:a="http://schemas.openxmlformats.org/drawingml/2006/main">
            <a:off x="523875" y="2133600"/>
            <a:ext cx="719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WEBSITE CONTROLS</a:t>
            </a:r>
          </a:p>
        </p:txBody>
      </p:sp>
      <p:sp>
        <p:nvSpPr>
          <p:cNvPr id="7" name="">
            <a:extLst xmlns:a="http://schemas.openxmlformats.org/drawingml/2006/main">
              <a:ext uri="{FF2B5EF4-FFF2-40B4-BE49-F238E27FC236}">
                <a16:creationId xmlns:a16="http://schemas.microsoft.com/office/drawing/2014/main" id="{17261082-14AE-48B8-817F-83BAC8ACE59D}"/>
              </a:ext>
            </a:extLst>
          </p:cNvPr>
          <p:cNvSpPr>
            <a:spLocks xmlns:a="http://schemas.openxmlformats.org/drawingml/2006/main" noGrp="1"/>
          </p:cNvSpPr>
          <p:nvPr/>
        </p:nvSpPr>
        <p:spPr>
          <a:xfrm xmlns:a="http://schemas.openxmlformats.org/drawingml/2006/main">
            <a:off x="523875" y="2543175"/>
            <a:ext cx="7191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Direction buttons and throttle</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send commands through the rover bridge.</a:t>
            </a:r>
          </a:p>
        </p:txBody>
      </p:sp>
      <p:sp>
        <p:nvSpPr>
          <p:cNvPr id="8" name="">
            <a:extLst xmlns:a="http://schemas.openxmlformats.org/drawingml/2006/main">
              <a:ext uri="{FF2B5EF4-FFF2-40B4-BE49-F238E27FC236}">
                <a16:creationId xmlns:a16="http://schemas.microsoft.com/office/drawing/2014/main" id="{6D80A47D-EEC1-4C0C-B4C9-587E3B12417B}"/>
              </a:ext>
            </a:extLst>
          </p:cNvPr>
          <p:cNvSpPr>
            <a:spLocks xmlns:a="http://schemas.openxmlformats.org/drawingml/2006/main" noGrp="1"/>
          </p:cNvSpPr>
          <p:nvPr/>
        </p:nvSpPr>
        <p:spPr>
          <a:xfrm xmlns:a="http://schemas.openxmlformats.org/drawingml/2006/main">
            <a:off x="523875" y="3333750"/>
            <a:ext cx="719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GROK VOICE</a:t>
            </a:r>
          </a:p>
        </p:txBody>
      </p:sp>
      <p:sp>
        <p:nvSpPr>
          <p:cNvPr id="9" name="">
            <a:extLst xmlns:a="http://schemas.openxmlformats.org/drawingml/2006/main">
              <a:ext uri="{FF2B5EF4-FFF2-40B4-BE49-F238E27FC236}">
                <a16:creationId xmlns:a16="http://schemas.microsoft.com/office/drawing/2014/main" id="{CC2CEBE8-8878-4C26-91C1-16DD9489413F}"/>
              </a:ext>
            </a:extLst>
          </p:cNvPr>
          <p:cNvSpPr>
            <a:spLocks xmlns:a="http://schemas.openxmlformats.org/drawingml/2006/main" noGrp="1"/>
          </p:cNvSpPr>
          <p:nvPr/>
        </p:nvSpPr>
        <p:spPr>
          <a:xfrm xmlns:a="http://schemas.openxmlformats.org/drawingml/2006/main">
            <a:off x="523875" y="3743325"/>
            <a:ext cx="7191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Spoken directions call a drive tool.</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The bridge sends the motor command.</a:t>
            </a:r>
          </a:p>
        </p:txBody>
      </p:sp>
      <p:sp>
        <p:nvSpPr>
          <p:cNvPr id="10" name="">
            <a:extLst xmlns:a="http://schemas.openxmlformats.org/drawingml/2006/main">
              <a:ext uri="{FF2B5EF4-FFF2-40B4-BE49-F238E27FC236}">
                <a16:creationId xmlns:a16="http://schemas.microsoft.com/office/drawing/2014/main" id="{2341D3CB-4C95-4DF8-BF15-688B429CDEBC}"/>
              </a:ext>
            </a:extLst>
          </p:cNvPr>
          <p:cNvSpPr>
            <a:spLocks xmlns:a="http://schemas.openxmlformats.org/drawingml/2006/main" noGrp="1"/>
          </p:cNvSpPr>
          <p:nvPr/>
        </p:nvSpPr>
        <p:spPr>
          <a:xfrm xmlns:a="http://schemas.openxmlformats.org/drawingml/2006/main">
            <a:off x="523875" y="4533900"/>
            <a:ext cx="719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MEDIAPIPE HAND TRACKING</a:t>
            </a:r>
          </a:p>
        </p:txBody>
      </p:sp>
      <p:sp>
        <p:nvSpPr>
          <p:cNvPr id="11" name="">
            <a:extLst xmlns:a="http://schemas.openxmlformats.org/drawingml/2006/main">
              <a:ext uri="{FF2B5EF4-FFF2-40B4-BE49-F238E27FC236}">
                <a16:creationId xmlns:a16="http://schemas.microsoft.com/office/drawing/2014/main" id="{4323B7D6-C3FA-4EDA-A59A-0B7E6D77D42E}"/>
              </a:ext>
            </a:extLst>
          </p:cNvPr>
          <p:cNvSpPr>
            <a:spLocks xmlns:a="http://schemas.openxmlformats.org/drawingml/2006/main" noGrp="1"/>
          </p:cNvSpPr>
          <p:nvPr/>
        </p:nvSpPr>
        <p:spPr>
          <a:xfrm xmlns:a="http://schemas.openxmlformats.org/drawingml/2006/main">
            <a:off x="523875" y="4943475"/>
            <a:ext cx="7191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Wrist-to-fingertip angle sets direction.</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Bluetooth carries the angle to the rover.</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fa6499ca7024a6e"/>
          <a:stretch xmlns:a="http://schemas.openxmlformats.org/drawingml/2006/main"/>
        </p:blipFill>
        <p:spPr>
          <a:xfrm xmlns:a="http://schemas.openxmlformats.org/drawingml/2006/main">
            <a:off x="8477250" y="2167512"/>
            <a:ext cx="3190875" cy="34659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DA85394D-9274-4351-94A2-2066993EBA52}"/>
              </a:ext>
            </a:extLst>
          </p:cNvPr>
          <p:cNvSpPr>
            <a:spLocks xmlns:a="http://schemas.openxmlformats.org/drawingml/2006/main" noGrp="1"/>
          </p:cNvSpPr>
          <p:nvPr/>
        </p:nvSpPr>
        <p:spPr>
          <a:xfrm xmlns:a="http://schemas.openxmlformats.org/drawingml/2006/main">
            <a:off x="523875" y="598170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350" b="0">
                <a:solidFill>
                  <a:srgbClr val="A3B8B6"/>
                </a:solidFill>
                <a:latin typeface="Arial"/>
                <a:ea typeface="Arial"/>
                <a:cs typeface="Arial"/>
              </a:defRPr>
            </a:pPr>
            <a:r>
              <a:rPr sz="1350" b="0">
                <a:solidFill>
                  <a:srgbClr val="A3B8B6"/>
                </a:solidFill>
                <a:latin typeface="Arial"/>
                <a:ea typeface="Arial"/>
                <a:cs typeface="Arial"/>
              </a:rPr>
              <a:t>One driving browser at a time. A missing heartbeat stops the rover after 1.5 seconds.</a:t>
            </a:r>
          </a:p>
        </p:txBody>
      </p:sp>
    </p:spTree>
    <p:extLst>
      <p:ext uri="{BB962C8B-B14F-4D97-AF65-F5344CB8AC3E}">
        <p14:creationId xmlns:p14="http://schemas.microsoft.com/office/powerpoint/2010/main" val="93518305"/>
      </p:ext>
    </p:extLst>
  </p:cSld>
</p:sld>
</file>

<file path=ppt/slides/slide6.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f780e02080647f5"/>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1788482-DC38-4A32-AFA8-68B76C8D5645}"/>
              </a:ext>
            </a:extLst>
          </p:cNvPr>
          <p:cNvSpPr>
            <a:spLocks xmlns:a="http://schemas.openxmlformats.org/drawingml/2006/main" noGrp="1"/>
          </p:cNvSpPr>
          <p:nvPr/>
        </p:nvSpPr>
        <p:spPr>
          <a:xfrm xmlns:a="http://schemas.openxmlformats.org/drawingml/2006/main">
            <a:off x="523875" y="11811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750" b="1">
                <a:solidFill>
                  <a:srgbClr val="EFF7F4"/>
                </a:solidFill>
                <a:latin typeface="Arial"/>
                <a:ea typeface="Arial"/>
                <a:cs typeface="Arial"/>
              </a:defRPr>
            </a:pPr>
            <a:r>
              <a:rPr sz="3750" b="1">
                <a:solidFill>
                  <a:srgbClr val="EFF7F4"/>
                </a:solidFill>
                <a:latin typeface="Arial"/>
                <a:ea typeface="Arial"/>
                <a:cs typeface="Arial"/>
              </a:rPr>
              <a:t>Grok voice control</a:t>
            </a:r>
          </a:p>
        </p:txBody>
      </p:sp>
      <p:sp>
        <p:nvSpPr>
          <p:cNvPr id="3" name="">
            <a:extLst xmlns:a="http://schemas.openxmlformats.org/drawingml/2006/main">
              <a:ext uri="{FF2B5EF4-FFF2-40B4-BE49-F238E27FC236}">
                <a16:creationId xmlns:a16="http://schemas.microsoft.com/office/drawing/2014/main" id="{A52FE232-7151-4470-A65B-E8B953E861F4}"/>
              </a:ext>
            </a:extLst>
          </p:cNvPr>
          <p:cNvSpPr>
            <a:spLocks xmlns:a="http://schemas.openxmlformats.org/drawingml/2006/main" noGrp="1"/>
          </p:cNvSpPr>
          <p:nvPr/>
        </p:nvSpPr>
        <p:spPr>
          <a:xfrm xmlns:a="http://schemas.openxmlformats.org/drawingml/2006/main">
            <a:off x="523875" y="217170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1">
                <a:solidFill>
                  <a:srgbClr val="A2EFB6"/>
                </a:solidFill>
                <a:latin typeface="Arial"/>
                <a:ea typeface="Arial"/>
                <a:cs typeface="Arial"/>
              </a:defRPr>
            </a:pPr>
            <a:r>
              <a:rPr sz="2025" b="1">
                <a:solidFill>
                  <a:srgbClr val="A2EFB6"/>
                </a:solidFill>
                <a:latin typeface="Arial"/>
                <a:ea typeface="Arial"/>
                <a:cs typeface="Arial"/>
              </a:rPr>
              <a:t>LAPTOP MICROPHONE</a:t>
            </a:r>
          </a:p>
        </p:txBody>
      </p:sp>
      <p:sp>
        <p:nvSpPr>
          <p:cNvPr id="4" name="">
            <a:extLst xmlns:a="http://schemas.openxmlformats.org/drawingml/2006/main">
              <a:ext uri="{FF2B5EF4-FFF2-40B4-BE49-F238E27FC236}">
                <a16:creationId xmlns:a16="http://schemas.microsoft.com/office/drawing/2014/main" id="{07AC9096-BBE5-4558-B28A-6A9B532A22A8}"/>
              </a:ext>
            </a:extLst>
          </p:cNvPr>
          <p:cNvSpPr>
            <a:spLocks xmlns:a="http://schemas.openxmlformats.org/drawingml/2006/main" noGrp="1"/>
          </p:cNvSpPr>
          <p:nvPr/>
        </p:nvSpPr>
        <p:spPr>
          <a:xfrm xmlns:a="http://schemas.openxmlformats.org/drawingml/2006/main">
            <a:off x="523875" y="2581275"/>
            <a:ext cx="676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A3B8B6"/>
                </a:solidFill>
                <a:latin typeface="Arial"/>
                <a:ea typeface="Arial"/>
                <a:cs typeface="Arial"/>
              </a:defRPr>
            </a:pPr>
            <a:r>
              <a:rPr sz="1875" b="0">
                <a:solidFill>
                  <a:srgbClr val="A3B8B6"/>
                </a:solidFill>
                <a:latin typeface="Arial"/>
                <a:ea typeface="Arial"/>
                <a:cs typeface="Arial"/>
              </a:rPr>
              <a:t>Audio streams to xAI’s realtime API</a:t>
            </a:r>
          </a:p>
          <a:p xmlns:a="http://schemas.openxmlformats.org/drawingml/2006/main">
            <a:pPr>
              <a:defRPr sz="1875" b="0">
                <a:solidFill>
                  <a:srgbClr val="A3B8B6"/>
                </a:solidFill>
                <a:latin typeface="Arial"/>
                <a:ea typeface="Arial"/>
                <a:cs typeface="Arial"/>
              </a:defRPr>
            </a:pPr>
            <a:r>
              <a:rPr sz="1875" b="0">
                <a:solidFill>
                  <a:srgbClr val="A3B8B6"/>
                </a:solidFill>
                <a:latin typeface="Arial"/>
                <a:ea typeface="Arial"/>
                <a:cs typeface="Arial"/>
              </a:rPr>
              <a:t>when voice control is enabled.</a:t>
            </a:r>
          </a:p>
        </p:txBody>
      </p:sp>
      <p:sp>
        <p:nvSpPr>
          <p:cNvPr id="5" name="">
            <a:extLst xmlns:a="http://schemas.openxmlformats.org/drawingml/2006/main">
              <a:ext uri="{FF2B5EF4-FFF2-40B4-BE49-F238E27FC236}">
                <a16:creationId xmlns:a16="http://schemas.microsoft.com/office/drawing/2014/main" id="{54D00079-61AE-4E15-A11C-EA741C87551F}"/>
              </a:ext>
            </a:extLst>
          </p:cNvPr>
          <p:cNvSpPr>
            <a:spLocks xmlns:a="http://schemas.openxmlformats.org/drawingml/2006/main" noGrp="1"/>
          </p:cNvSpPr>
          <p:nvPr/>
        </p:nvSpPr>
        <p:spPr>
          <a:xfrm xmlns:a="http://schemas.openxmlformats.org/drawingml/2006/main">
            <a:off x="523875" y="3476625"/>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1">
                <a:solidFill>
                  <a:srgbClr val="A2EFB6"/>
                </a:solidFill>
                <a:latin typeface="Arial"/>
                <a:ea typeface="Arial"/>
                <a:cs typeface="Arial"/>
              </a:defRPr>
            </a:pPr>
            <a:r>
              <a:rPr sz="2025" b="1">
                <a:solidFill>
                  <a:srgbClr val="A2EFB6"/>
                </a:solidFill>
                <a:latin typeface="Arial"/>
                <a:ea typeface="Arial"/>
                <a:cs typeface="Arial"/>
              </a:rPr>
              <a:t>GROK TOOL CALL</a:t>
            </a:r>
          </a:p>
        </p:txBody>
      </p:sp>
      <p:sp>
        <p:nvSpPr>
          <p:cNvPr id="6" name="">
            <a:extLst xmlns:a="http://schemas.openxmlformats.org/drawingml/2006/main">
              <a:ext uri="{FF2B5EF4-FFF2-40B4-BE49-F238E27FC236}">
                <a16:creationId xmlns:a16="http://schemas.microsoft.com/office/drawing/2014/main" id="{6EF914A4-BA74-4238-B317-164F5560DF7E}"/>
              </a:ext>
            </a:extLst>
          </p:cNvPr>
          <p:cNvSpPr>
            <a:spLocks xmlns:a="http://schemas.openxmlformats.org/drawingml/2006/main" noGrp="1"/>
          </p:cNvSpPr>
          <p:nvPr/>
        </p:nvSpPr>
        <p:spPr>
          <a:xfrm xmlns:a="http://schemas.openxmlformats.org/drawingml/2006/main">
            <a:off x="523875" y="3886200"/>
            <a:ext cx="676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A3B8B6"/>
                </a:solidFill>
                <a:latin typeface="Arial"/>
                <a:ea typeface="Arial"/>
                <a:cs typeface="Arial"/>
              </a:defRPr>
            </a:pPr>
            <a:r>
              <a:rPr sz="1875" b="0">
                <a:solidFill>
                  <a:srgbClr val="A3B8B6"/>
                </a:solidFill>
                <a:latin typeface="Arial"/>
                <a:ea typeface="Arial"/>
                <a:cs typeface="Arial"/>
              </a:rPr>
              <a:t>Grok interprets the spoken request and</a:t>
            </a:r>
          </a:p>
          <a:p xmlns:a="http://schemas.openxmlformats.org/drawingml/2006/main">
            <a:pPr>
              <a:defRPr sz="1875" b="0">
                <a:solidFill>
                  <a:srgbClr val="A3B8B6"/>
                </a:solidFill>
                <a:latin typeface="Arial"/>
                <a:ea typeface="Arial"/>
                <a:cs typeface="Arial"/>
              </a:defRPr>
            </a:pPr>
            <a:r>
              <a:rPr sz="1875" b="0">
                <a:solidFill>
                  <a:srgbClr val="A3B8B6"/>
                </a:solidFill>
                <a:latin typeface="Arial"/>
                <a:ea typeface="Arial"/>
                <a:cs typeface="Arial"/>
              </a:rPr>
              <a:t>calls drive_rover with a direction.</a:t>
            </a:r>
          </a:p>
        </p:txBody>
      </p:sp>
      <p:sp>
        <p:nvSpPr>
          <p:cNvPr id="7" name="">
            <a:extLst xmlns:a="http://schemas.openxmlformats.org/drawingml/2006/main">
              <a:ext uri="{FF2B5EF4-FFF2-40B4-BE49-F238E27FC236}">
                <a16:creationId xmlns:a16="http://schemas.microsoft.com/office/drawing/2014/main" id="{4456F7FF-1BF2-4EA5-B5F2-91C55A5B3057}"/>
              </a:ext>
            </a:extLst>
          </p:cNvPr>
          <p:cNvSpPr>
            <a:spLocks xmlns:a="http://schemas.openxmlformats.org/drawingml/2006/main" noGrp="1"/>
          </p:cNvSpPr>
          <p:nvPr/>
        </p:nvSpPr>
        <p:spPr>
          <a:xfrm xmlns:a="http://schemas.openxmlformats.org/drawingml/2006/main">
            <a:off x="523875" y="478155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1">
                <a:solidFill>
                  <a:srgbClr val="A2EFB6"/>
                </a:solidFill>
                <a:latin typeface="Arial"/>
                <a:ea typeface="Arial"/>
                <a:cs typeface="Arial"/>
              </a:defRPr>
            </a:pPr>
            <a:r>
              <a:rPr sz="2025" b="1">
                <a:solidFill>
                  <a:srgbClr val="A2EFB6"/>
                </a:solidFill>
                <a:latin typeface="Arial"/>
                <a:ea typeface="Arial"/>
                <a:cs typeface="Arial"/>
              </a:rPr>
              <a:t>ROBOT COMMAND</a:t>
            </a:r>
          </a:p>
        </p:txBody>
      </p:sp>
      <p:sp>
        <p:nvSpPr>
          <p:cNvPr id="8" name="">
            <a:extLst xmlns:a="http://schemas.openxmlformats.org/drawingml/2006/main">
              <a:ext uri="{FF2B5EF4-FFF2-40B4-BE49-F238E27FC236}">
                <a16:creationId xmlns:a16="http://schemas.microsoft.com/office/drawing/2014/main" id="{0920AD08-5360-48D3-AB3C-0DF48D85E7B6}"/>
              </a:ext>
            </a:extLst>
          </p:cNvPr>
          <p:cNvSpPr>
            <a:spLocks xmlns:a="http://schemas.openxmlformats.org/drawingml/2006/main" noGrp="1"/>
          </p:cNvSpPr>
          <p:nvPr/>
        </p:nvSpPr>
        <p:spPr>
          <a:xfrm xmlns:a="http://schemas.openxmlformats.org/drawingml/2006/main">
            <a:off x="523875" y="5191125"/>
            <a:ext cx="676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A3B8B6"/>
                </a:solidFill>
                <a:latin typeface="Arial"/>
                <a:ea typeface="Arial"/>
                <a:cs typeface="Arial"/>
              </a:defRPr>
            </a:pPr>
            <a:r>
              <a:rPr sz="1875" b="0">
                <a:solidFill>
                  <a:srgbClr val="A3B8B6"/>
                </a:solidFill>
                <a:latin typeface="Arial"/>
                <a:ea typeface="Arial"/>
                <a:cs typeface="Arial"/>
              </a:rPr>
              <a:t>The bridge sends motion or stop through</a:t>
            </a:r>
          </a:p>
          <a:p xmlns:a="http://schemas.openxmlformats.org/drawingml/2006/main">
            <a:pPr>
              <a:defRPr sz="1875" b="0">
                <a:solidFill>
                  <a:srgbClr val="A3B8B6"/>
                </a:solidFill>
                <a:latin typeface="Arial"/>
                <a:ea typeface="Arial"/>
                <a:cs typeface="Arial"/>
              </a:defRPr>
            </a:pPr>
            <a:r>
              <a:rPr sz="1875" b="0">
                <a:solidFill>
                  <a:srgbClr val="A3B8B6"/>
                </a:solidFill>
                <a:latin typeface="Arial"/>
                <a:ea typeface="Arial"/>
                <a:cs typeface="Arial"/>
              </a:rPr>
              <a:t>the drive Pi to the Arduino.</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cae9445e14c4129"/>
          <a:stretch xmlns:a="http://schemas.openxmlformats.org/drawingml/2006/main"/>
        </p:blipFill>
        <p:spPr>
          <a:xfrm xmlns:a="http://schemas.openxmlformats.org/drawingml/2006/main">
            <a:off x="7477125" y="2190750"/>
            <a:ext cx="4191000" cy="14478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46D61E3-56AF-4484-839F-802117EC099A}"/>
              </a:ext>
            </a:extLst>
          </p:cNvPr>
          <p:cNvSpPr>
            <a:spLocks xmlns:a="http://schemas.openxmlformats.org/drawingml/2006/main" noGrp="1"/>
          </p:cNvSpPr>
          <p:nvPr/>
        </p:nvSpPr>
        <p:spPr>
          <a:xfrm xmlns:a="http://schemas.openxmlformats.org/drawingml/2006/main">
            <a:off x="7477125" y="4010025"/>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1">
                <a:solidFill>
                  <a:srgbClr val="A2EFB6"/>
                </a:solidFill>
                <a:latin typeface="Arial"/>
                <a:ea typeface="Arial"/>
                <a:cs typeface="Arial"/>
              </a:defRPr>
            </a:pPr>
            <a:r>
              <a:rPr sz="1650" b="1">
                <a:solidFill>
                  <a:srgbClr val="A2EFB6"/>
                </a:solidFill>
                <a:latin typeface="Arial"/>
                <a:ea typeface="Arial"/>
                <a:cs typeface="Arial"/>
              </a:rPr>
              <a:t>SPOKEN DIRECTIONS</a:t>
            </a:r>
          </a:p>
        </p:txBody>
      </p:sp>
      <p:sp>
        <p:nvSpPr>
          <p:cNvPr id="11" name="">
            <a:extLst xmlns:a="http://schemas.openxmlformats.org/drawingml/2006/main">
              <a:ext uri="{FF2B5EF4-FFF2-40B4-BE49-F238E27FC236}">
                <a16:creationId xmlns:a16="http://schemas.microsoft.com/office/drawing/2014/main" id="{EE82127F-2CF8-4C20-BED2-BC113A33A32A}"/>
              </a:ext>
            </a:extLst>
          </p:cNvPr>
          <p:cNvSpPr>
            <a:spLocks xmlns:a="http://schemas.openxmlformats.org/drawingml/2006/main" noGrp="1"/>
          </p:cNvSpPr>
          <p:nvPr/>
        </p:nvSpPr>
        <p:spPr>
          <a:xfrm xmlns:a="http://schemas.openxmlformats.org/drawingml/2006/main">
            <a:off x="7477125" y="4419600"/>
            <a:ext cx="4191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250" b="0">
                <a:solidFill>
                  <a:srgbClr val="EFF7F4"/>
                </a:solidFill>
                <a:latin typeface="Arial"/>
                <a:ea typeface="Arial"/>
                <a:cs typeface="Arial"/>
              </a:defRPr>
            </a:pPr>
            <a:r>
              <a:rPr sz="2250" b="0">
                <a:solidFill>
                  <a:srgbClr val="EFF7F4"/>
                </a:solidFill>
                <a:latin typeface="Arial"/>
                <a:ea typeface="Arial"/>
                <a:cs typeface="Arial"/>
              </a:rPr>
              <a:t>“Go forward.”</a:t>
            </a:r>
          </a:p>
          <a:p xmlns:a="http://schemas.openxmlformats.org/drawingml/2006/main">
            <a:pPr>
              <a:defRPr sz="2250" b="0">
                <a:solidFill>
                  <a:srgbClr val="EFF7F4"/>
                </a:solidFill>
                <a:latin typeface="Arial"/>
                <a:ea typeface="Arial"/>
                <a:cs typeface="Arial"/>
              </a:defRPr>
            </a:pPr>
            <a:r>
              <a:rPr sz="2250" b="0">
                <a:solidFill>
                  <a:srgbClr val="EFF7F4"/>
                </a:solidFill>
                <a:latin typeface="Arial"/>
                <a:ea typeface="Arial"/>
                <a:cs typeface="Arial"/>
              </a:rPr>
              <a:t>“Turn left.”</a:t>
            </a:r>
          </a:p>
          <a:p xmlns:a="http://schemas.openxmlformats.org/drawingml/2006/main">
            <a:pPr>
              <a:defRPr sz="2250" b="0">
                <a:solidFill>
                  <a:srgbClr val="EFF7F4"/>
                </a:solidFill>
                <a:latin typeface="Arial"/>
                <a:ea typeface="Arial"/>
                <a:cs typeface="Arial"/>
              </a:defRPr>
            </a:pPr>
            <a:r>
              <a:rPr sz="2250" b="0">
                <a:solidFill>
                  <a:srgbClr val="EFF7F4"/>
                </a:solidFill>
                <a:latin typeface="Arial"/>
                <a:ea typeface="Arial"/>
                <a:cs typeface="Arial"/>
              </a:rPr>
              <a:t>“Stop.”</a:t>
            </a:r>
          </a:p>
        </p:txBody>
      </p:sp>
      <p:sp>
        <p:nvSpPr>
          <p:cNvPr id="12" name="">
            <a:extLst xmlns:a="http://schemas.openxmlformats.org/drawingml/2006/main">
              <a:ext uri="{FF2B5EF4-FFF2-40B4-BE49-F238E27FC236}">
                <a16:creationId xmlns:a16="http://schemas.microsoft.com/office/drawing/2014/main" id="{E2D1E58B-4683-41A1-A635-7595E1A2999E}"/>
              </a:ext>
            </a:extLst>
          </p:cNvPr>
          <p:cNvSpPr>
            <a:spLocks xmlns:a="http://schemas.openxmlformats.org/drawingml/2006/main" noGrp="1"/>
          </p:cNvSpPr>
          <p:nvPr/>
        </p:nvSpPr>
        <p:spPr>
          <a:xfrm xmlns:a="http://schemas.openxmlformats.org/drawingml/2006/main">
            <a:off x="523875" y="5991225"/>
            <a:ext cx="1114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A3B8B6"/>
                </a:solidFill>
                <a:latin typeface="Arial"/>
                <a:ea typeface="Arial"/>
                <a:cs typeface="Arial"/>
              </a:defRPr>
            </a:pPr>
            <a:r>
              <a:rPr sz="1350" b="0">
                <a:solidFill>
                  <a:srgbClr val="A3B8B6"/>
                </a:solidFill>
                <a:latin typeface="Arial"/>
                <a:ea typeface="Arial"/>
                <a:cs typeface="Arial"/>
              </a:rPr>
              <a:t>Voice uses cloud AI. The CLIP item classifier runs locally.</a:t>
            </a:r>
          </a:p>
        </p:txBody>
      </p:sp>
      <p:sp>
        <p:nvSpPr>
          <p:cNvPr id="13" name="">
            <a:extLst xmlns:a="http://schemas.openxmlformats.org/drawingml/2006/main">
              <a:ext uri="{FF2B5EF4-FFF2-40B4-BE49-F238E27FC236}">
                <a16:creationId xmlns:a16="http://schemas.microsoft.com/office/drawing/2014/main" id="{6A5EF61A-A3B8-4DB3-B951-159A88C660D1}"/>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FD4B1B4-66E0-45DD-9B88-814684813887}"/>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15" name="">
            <a:extLst xmlns:a="http://schemas.openxmlformats.org/drawingml/2006/main">
              <a:ext uri="{FF2B5EF4-FFF2-40B4-BE49-F238E27FC236}">
                <a16:creationId xmlns:a16="http://schemas.microsoft.com/office/drawing/2014/main" id="{3395477F-AD7A-469A-A51C-580B69275155}"/>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1">
                <a:solidFill>
                  <a:srgbClr val="A3B8B6"/>
                </a:solidFill>
                <a:latin typeface="Arial"/>
                <a:ea typeface="Arial"/>
                <a:cs typeface="Arial"/>
              </a:defRPr>
            </a:pPr>
            <a:r>
              <a:rPr sz="1200" b="1">
                <a:solidFill>
                  <a:srgbClr val="A3B8B6"/>
                </a:solidFill>
                <a:latin typeface="Arial"/>
                <a:ea typeface="Arial"/>
                <a:cs typeface="Arial"/>
              </a:rPr>
              <a:t>06</a:t>
            </a:r>
          </a:p>
        </p:txBody>
      </p:sp>
    </p:spTree>
    <p:extLst>
      <p:ext uri="{BB962C8B-B14F-4D97-AF65-F5344CB8AC3E}">
        <p14:creationId xmlns:p14="http://schemas.microsoft.com/office/powerpoint/2010/main" val="1939631794"/>
      </p:ext>
    </p:extLst>
  </p:cSld>
</p:sld>
</file>

<file path=ppt/slides/slide7.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7d7ea6fdfcd4a44"/>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765936D-BC45-4737-B3EA-547AE990B5E4}"/>
              </a:ext>
            </a:extLst>
          </p:cNvPr>
          <p:cNvSpPr>
            <a:spLocks xmlns:a="http://schemas.openxmlformats.org/drawingml/2006/main" noGrp="1"/>
          </p:cNvSpPr>
          <p:nvPr/>
        </p:nvSpPr>
        <p:spPr>
          <a:xfrm xmlns:a="http://schemas.openxmlformats.org/drawingml/2006/main">
            <a:off x="523875" y="11811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3750" b="1">
                <a:solidFill>
                  <a:srgbClr val="EFF7F4"/>
                </a:solidFill>
                <a:latin typeface="Arial"/>
                <a:ea typeface="Arial"/>
                <a:cs typeface="Arial"/>
              </a:defRPr>
            </a:pPr>
            <a:r>
              <a:rPr sz="3750" b="1">
                <a:solidFill>
                  <a:srgbClr val="EFF7F4"/>
                </a:solidFill>
                <a:latin typeface="Arial"/>
                <a:ea typeface="Arial"/>
                <a:cs typeface="Arial"/>
              </a:rPr>
              <a:t>Every detection has a record</a:t>
            </a:r>
          </a:p>
        </p:txBody>
      </p:sp>
      <p:sp>
        <p:nvSpPr>
          <p:cNvPr id="3" name="">
            <a:extLst xmlns:a="http://schemas.openxmlformats.org/drawingml/2006/main">
              <a:ext uri="{FF2B5EF4-FFF2-40B4-BE49-F238E27FC236}">
                <a16:creationId xmlns:a16="http://schemas.microsoft.com/office/drawing/2014/main" id="{9D9D49FB-CF97-4994-9B78-00911C268F6F}"/>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7B0CC913-4761-4AD7-94C1-D29C712F7459}"/>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5" name="">
            <a:extLst xmlns:a="http://schemas.openxmlformats.org/drawingml/2006/main">
              <a:ext uri="{FF2B5EF4-FFF2-40B4-BE49-F238E27FC236}">
                <a16:creationId xmlns:a16="http://schemas.microsoft.com/office/drawing/2014/main" id="{801D4D22-5EED-4D0D-B62E-EA379E4538F5}"/>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3D425DE8-050E-4D38-8243-48A4BB722CD4}"/>
              </a:ext>
            </a:extLst>
          </p:cNvPr>
          <p:cNvSpPr>
            <a:spLocks xmlns:a="http://schemas.openxmlformats.org/drawingml/2006/main" noGrp="1"/>
          </p:cNvSpPr>
          <p:nvPr/>
        </p:nvSpPr>
        <p:spPr>
          <a:xfrm xmlns:a="http://schemas.openxmlformats.org/drawingml/2006/main">
            <a:off x="523875" y="2152650"/>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625" b="1">
                <a:solidFill>
                  <a:srgbClr val="A2EFB6"/>
                </a:solidFill>
                <a:latin typeface="Arial"/>
                <a:ea typeface="Arial"/>
                <a:cs typeface="Arial"/>
              </a:defRPr>
            </a:pPr>
            <a:r>
              <a:rPr sz="2625" b="1">
                <a:solidFill>
                  <a:srgbClr val="A2EFB6"/>
                </a:solidFill>
                <a:latin typeface="Arial"/>
                <a:ea typeface="Arial"/>
                <a:cs typeface="Arial"/>
              </a:rPr>
              <a:t>TigerData PostgreSQL</a:t>
            </a:r>
          </a:p>
        </p:txBody>
      </p:sp>
      <p:sp>
        <p:nvSpPr>
          <p:cNvPr id="7" name="">
            <a:extLst xmlns:a="http://schemas.openxmlformats.org/drawingml/2006/main">
              <a:ext uri="{FF2B5EF4-FFF2-40B4-BE49-F238E27FC236}">
                <a16:creationId xmlns:a16="http://schemas.microsoft.com/office/drawing/2014/main" id="{6BA727BC-5DD0-43E8-AB37-37DE9A7B9DBC}"/>
              </a:ext>
            </a:extLst>
          </p:cNvPr>
          <p:cNvSpPr>
            <a:spLocks xmlns:a="http://schemas.openxmlformats.org/drawingml/2006/main" noGrp="1"/>
          </p:cNvSpPr>
          <p:nvPr/>
        </p:nvSpPr>
        <p:spPr>
          <a:xfrm xmlns:a="http://schemas.openxmlformats.org/drawingml/2006/main">
            <a:off x="523875" y="2676525"/>
            <a:ext cx="11144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175" b="0">
                <a:solidFill>
                  <a:srgbClr val="A3B8B6"/>
                </a:solidFill>
                <a:latin typeface="Arial"/>
                <a:ea typeface="Arial"/>
                <a:cs typeface="Arial"/>
              </a:defRPr>
            </a:pPr>
            <a:r>
              <a:rPr sz="2175" b="0">
                <a:solidFill>
                  <a:srgbClr val="A3B8B6"/>
                </a:solidFill>
                <a:latin typeface="Arial"/>
                <a:ea typeface="Arial"/>
                <a:cs typeface="Arial"/>
              </a:rPr>
              <a:t>Computers and phones access the same history</a:t>
            </a:r>
          </a:p>
          <a:p xmlns:a="http://schemas.openxmlformats.org/drawingml/2006/main">
            <a:pPr>
              <a:buNone/>
              <a:defRPr sz="2175" b="0">
                <a:solidFill>
                  <a:srgbClr val="A3B8B6"/>
                </a:solidFill>
                <a:latin typeface="Arial"/>
                <a:ea typeface="Arial"/>
                <a:cs typeface="Arial"/>
              </a:defRPr>
            </a:pPr>
            <a:r>
              <a:rPr sz="2175" b="0">
                <a:solidFill>
                  <a:srgbClr val="A3B8B6"/>
                </a:solidFill>
                <a:latin typeface="Arial"/>
                <a:ea typeface="Arial"/>
                <a:cs typeface="Arial"/>
              </a:rPr>
              <a:t>through the dashboard.</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8205ae33bc54b0a"/>
          <a:stretch xmlns:a="http://schemas.openxmlformats.org/drawingml/2006/main"/>
        </p:blipFill>
        <p:spPr>
          <a:xfrm xmlns:a="http://schemas.openxmlformats.org/drawingml/2006/main">
            <a:off x="2166439" y="3667125"/>
            <a:ext cx="7859123" cy="23050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31A22EB-38C1-4EF0-8BC3-DFE942B2ED00}"/>
              </a:ext>
            </a:extLst>
          </p:cNvPr>
          <p:cNvSpPr>
            <a:spLocks xmlns:a="http://schemas.openxmlformats.org/drawingml/2006/main" noGrp="1"/>
          </p:cNvSpPr>
          <p:nvPr/>
        </p:nvSpPr>
        <p:spPr>
          <a:xfrm xmlns:a="http://schemas.openxmlformats.org/drawingml/2006/main">
            <a:off x="523875" y="3419475"/>
            <a:ext cx="1114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650" b="0">
                <a:solidFill>
                  <a:srgbClr val="EFF7F4"/>
                </a:solidFill>
                <a:latin typeface="Arial"/>
                <a:ea typeface="Arial"/>
                <a:cs typeface="Arial"/>
              </a:defRPr>
            </a:pPr>
            <a:r>
              <a:rPr sz="1650" b="0">
                <a:solidFill>
                  <a:srgbClr val="EFF7F4"/>
                </a:solidFill>
                <a:latin typeface="Arial"/>
                <a:ea typeface="Arial"/>
                <a:cs typeface="Arial"/>
              </a:rPr>
              <a:t>One scan ID prevents repeat frames from creating duplicate records.</a:t>
            </a:r>
          </a:p>
        </p:txBody>
      </p:sp>
      <p:sp>
        <p:nvSpPr>
          <p:cNvPr id="10" name="">
            <a:extLst xmlns:a="http://schemas.openxmlformats.org/drawingml/2006/main">
              <a:ext uri="{FF2B5EF4-FFF2-40B4-BE49-F238E27FC236}">
                <a16:creationId xmlns:a16="http://schemas.microsoft.com/office/drawing/2014/main" id="{DEB1CB9F-5F72-48D9-A08B-6640B8343A01}"/>
              </a:ext>
            </a:extLst>
          </p:cNvPr>
          <p:cNvSpPr>
            <a:spLocks xmlns:a="http://schemas.openxmlformats.org/drawingml/2006/main" noGrp="1"/>
          </p:cNvSpPr>
          <p:nvPr/>
        </p:nvSpPr>
        <p:spPr>
          <a:xfrm xmlns:a="http://schemas.openxmlformats.org/drawingml/2006/main">
            <a:off x="523875" y="598170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350" b="0">
                <a:solidFill>
                  <a:srgbClr val="A3B8B6"/>
                </a:solidFill>
                <a:latin typeface="Arial"/>
                <a:ea typeface="Arial"/>
                <a:cs typeface="Arial"/>
              </a:defRPr>
            </a:pPr>
            <a:r>
              <a:rPr sz="1350" b="0">
                <a:solidFill>
                  <a:srgbClr val="A3B8B6"/>
                </a:solidFill>
                <a:latin typeface="Arial"/>
                <a:ea typeface="Arial"/>
                <a:cs typeface="Arial"/>
              </a:rPr>
              <a:t>The ledger stores metadata, not camera images. Lid openings record collection events.</a:t>
            </a:r>
          </a:p>
        </p:txBody>
      </p:sp>
    </p:spTree>
    <p:extLst>
      <p:ext uri="{BB962C8B-B14F-4D97-AF65-F5344CB8AC3E}">
        <p14:creationId xmlns:p14="http://schemas.microsoft.com/office/powerpoint/2010/main" val="1730983097"/>
      </p:ext>
    </p:extLst>
  </p:cSld>
</p:sld>
</file>

<file path=ppt/slides/slide8.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0f38b4a38d84d78"/>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468E38F-28DE-431D-9A3C-BDC07D3F17AD}"/>
              </a:ext>
            </a:extLst>
          </p:cNvPr>
          <p:cNvSpPr>
            <a:spLocks xmlns:a="http://schemas.openxmlformats.org/drawingml/2006/main" noGrp="1"/>
          </p:cNvSpPr>
          <p:nvPr/>
        </p:nvSpPr>
        <p:spPr>
          <a:xfrm xmlns:a="http://schemas.openxmlformats.org/drawingml/2006/main">
            <a:off x="523875" y="11811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3750" b="1">
                <a:solidFill>
                  <a:srgbClr val="EFF7F4"/>
                </a:solidFill>
                <a:latin typeface="Arial"/>
                <a:ea typeface="Arial"/>
                <a:cs typeface="Arial"/>
              </a:defRPr>
            </a:pPr>
            <a:r>
              <a:rPr sz="3750" b="1">
                <a:solidFill>
                  <a:srgbClr val="EFF7F4"/>
                </a:solidFill>
                <a:latin typeface="Arial"/>
                <a:ea typeface="Arial"/>
                <a:cs typeface="Arial"/>
              </a:rPr>
              <a:t>Gemini guidance for unfamiliar items</a:t>
            </a:r>
          </a:p>
        </p:txBody>
      </p:sp>
      <p:sp>
        <p:nvSpPr>
          <p:cNvPr id="3" name="">
            <a:extLst xmlns:a="http://schemas.openxmlformats.org/drawingml/2006/main">
              <a:ext uri="{FF2B5EF4-FFF2-40B4-BE49-F238E27FC236}">
                <a16:creationId xmlns:a16="http://schemas.microsoft.com/office/drawing/2014/main" id="{95AE1BAC-7941-42ED-BA6A-C35F1E494333}"/>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102A951C-31D0-400D-83C5-BA27AB4825D8}"/>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5" name="">
            <a:extLst xmlns:a="http://schemas.openxmlformats.org/drawingml/2006/main">
              <a:ext uri="{FF2B5EF4-FFF2-40B4-BE49-F238E27FC236}">
                <a16:creationId xmlns:a16="http://schemas.microsoft.com/office/drawing/2014/main" id="{4FAABE9D-60B3-47A0-A65C-FE42263E3B50}"/>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81B749CE-F362-4EBD-9D71-E56C9DA7BCB5}"/>
              </a:ext>
            </a:extLst>
          </p:cNvPr>
          <p:cNvSpPr>
            <a:spLocks xmlns:a="http://schemas.openxmlformats.org/drawingml/2006/main" noGrp="1"/>
          </p:cNvSpPr>
          <p:nvPr/>
        </p:nvSpPr>
        <p:spPr>
          <a:xfrm xmlns:a="http://schemas.openxmlformats.org/drawingml/2006/main">
            <a:off x="523875" y="2209800"/>
            <a:ext cx="681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250" b="1">
                <a:solidFill>
                  <a:srgbClr val="A2EFB6"/>
                </a:solidFill>
                <a:latin typeface="Arial"/>
                <a:ea typeface="Arial"/>
                <a:cs typeface="Arial"/>
              </a:defRPr>
            </a:pPr>
            <a:r>
              <a:rPr sz="2250" b="1">
                <a:solidFill>
                  <a:srgbClr val="A2EFB6"/>
                </a:solidFill>
                <a:latin typeface="Arial"/>
                <a:ea typeface="Arial"/>
                <a:cs typeface="Arial"/>
              </a:rPr>
              <a:t>Upload a photo or ask about</a:t>
            </a:r>
          </a:p>
          <a:p xmlns:a="http://schemas.openxmlformats.org/drawingml/2006/main">
            <a:pPr>
              <a:buNone/>
              <a:defRPr sz="2250" b="1">
                <a:solidFill>
                  <a:srgbClr val="A2EFB6"/>
                </a:solidFill>
                <a:latin typeface="Arial"/>
                <a:ea typeface="Arial"/>
                <a:cs typeface="Arial"/>
              </a:defRPr>
            </a:pPr>
            <a:r>
              <a:rPr sz="2250" b="1">
                <a:solidFill>
                  <a:srgbClr val="A2EFB6"/>
                </a:solidFill>
                <a:latin typeface="Arial"/>
                <a:ea typeface="Arial"/>
                <a:cs typeface="Arial"/>
              </a:rPr>
              <a:t>an unfamiliar item.</a:t>
            </a:r>
          </a:p>
        </p:txBody>
      </p:sp>
      <p:sp>
        <p:nvSpPr>
          <p:cNvPr id="7" name="">
            <a:extLst xmlns:a="http://schemas.openxmlformats.org/drawingml/2006/main">
              <a:ext uri="{FF2B5EF4-FFF2-40B4-BE49-F238E27FC236}">
                <a16:creationId xmlns:a16="http://schemas.microsoft.com/office/drawing/2014/main" id="{BC5CC9F6-229A-4783-A784-03D29BF113DF}"/>
              </a:ext>
            </a:extLst>
          </p:cNvPr>
          <p:cNvSpPr>
            <a:spLocks xmlns:a="http://schemas.openxmlformats.org/drawingml/2006/main" noGrp="1"/>
          </p:cNvSpPr>
          <p:nvPr/>
        </p:nvSpPr>
        <p:spPr>
          <a:xfrm xmlns:a="http://schemas.openxmlformats.org/drawingml/2006/main">
            <a:off x="523875" y="3467100"/>
            <a:ext cx="681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325" b="0">
                <a:solidFill>
                  <a:srgbClr val="EFF7F4"/>
                </a:solidFill>
                <a:latin typeface="Arial"/>
                <a:ea typeface="Arial"/>
                <a:cs typeface="Arial"/>
              </a:defRPr>
            </a:pPr>
            <a:r>
              <a:rPr sz="2325" b="0">
                <a:solidFill>
                  <a:srgbClr val="EFF7F4"/>
                </a:solidFill>
                <a:latin typeface="Arial"/>
                <a:ea typeface="Arial"/>
                <a:cs typeface="Arial"/>
              </a:rPr>
              <a:t>Material guidance</a:t>
            </a:r>
          </a:p>
          <a:p xmlns:a="http://schemas.openxmlformats.org/drawingml/2006/main">
            <a:pPr>
              <a:buNone/>
              <a:defRPr sz="2325" b="0">
                <a:solidFill>
                  <a:srgbClr val="EFF7F4"/>
                </a:solidFill>
                <a:latin typeface="Arial"/>
                <a:ea typeface="Arial"/>
                <a:cs typeface="Arial"/>
              </a:defRPr>
            </a:pPr>
            <a:r>
              <a:rPr sz="2325" b="0">
                <a:solidFill>
                  <a:srgbClr val="EFF7F4"/>
                </a:solidFill>
                <a:latin typeface="Arial"/>
                <a:ea typeface="Arial"/>
                <a:cs typeface="Arial"/>
              </a:rPr>
              <a:t>Preparation steps</a:t>
            </a:r>
          </a:p>
          <a:p xmlns:a="http://schemas.openxmlformats.org/drawingml/2006/main">
            <a:pPr>
              <a:buNone/>
              <a:defRPr sz="2325" b="0">
                <a:solidFill>
                  <a:srgbClr val="EFF7F4"/>
                </a:solidFill>
                <a:latin typeface="Arial"/>
                <a:ea typeface="Arial"/>
                <a:cs typeface="Arial"/>
              </a:defRPr>
            </a:pPr>
            <a:r>
              <a:rPr sz="2325" b="0">
                <a:solidFill>
                  <a:srgbClr val="EFF7F4"/>
                </a:solidFill>
                <a:latin typeface="Arial"/>
                <a:ea typeface="Arial"/>
                <a:cs typeface="Arial"/>
              </a:rPr>
              <a:t>Reuse ideas</a:t>
            </a:r>
          </a:p>
        </p:txBody>
      </p:sp>
      <p:sp>
        <p:nvSpPr>
          <p:cNvPr id="8" name="">
            <a:extLst xmlns:a="http://schemas.openxmlformats.org/drawingml/2006/main">
              <a:ext uri="{FF2B5EF4-FFF2-40B4-BE49-F238E27FC236}">
                <a16:creationId xmlns:a16="http://schemas.microsoft.com/office/drawing/2014/main" id="{531AF7D2-9349-435A-96C0-B1A7E8D17191}"/>
              </a:ext>
            </a:extLst>
          </p:cNvPr>
          <p:cNvSpPr>
            <a:spLocks xmlns:a="http://schemas.openxmlformats.org/drawingml/2006/main" noGrp="1"/>
          </p:cNvSpPr>
          <p:nvPr/>
        </p:nvSpPr>
        <p:spPr>
          <a:xfrm xmlns:a="http://schemas.openxmlformats.org/drawingml/2006/main">
            <a:off x="523875" y="5076825"/>
            <a:ext cx="6810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950" b="0">
                <a:solidFill>
                  <a:srgbClr val="A3B8B6"/>
                </a:solidFill>
                <a:latin typeface="Arial"/>
                <a:ea typeface="Arial"/>
                <a:cs typeface="Arial"/>
              </a:defRPr>
            </a:pPr>
            <a:r>
              <a:rPr sz="1950" b="0">
                <a:solidFill>
                  <a:srgbClr val="A3B8B6"/>
                </a:solidFill>
                <a:latin typeface="Arial"/>
                <a:ea typeface="Arial"/>
                <a:cs typeface="Arial"/>
              </a:rPr>
              <a:t>Advice stays separate from local CLIP</a:t>
            </a:r>
          </a:p>
          <a:p xmlns:a="http://schemas.openxmlformats.org/drawingml/2006/main">
            <a:pPr>
              <a:buNone/>
              <a:defRPr sz="1950" b="0">
                <a:solidFill>
                  <a:srgbClr val="A3B8B6"/>
                </a:solidFill>
                <a:latin typeface="Arial"/>
                <a:ea typeface="Arial"/>
                <a:cs typeface="Arial"/>
              </a:defRPr>
            </a:pPr>
            <a:r>
              <a:rPr sz="1950" b="0">
                <a:solidFill>
                  <a:srgbClr val="A3B8B6"/>
                </a:solidFill>
                <a:latin typeface="Arial"/>
                <a:ea typeface="Arial"/>
                <a:cs typeface="Arial"/>
              </a:rPr>
              <a:t>recognition and rover control.</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70440f625e1417b"/>
          <a:stretch xmlns:a="http://schemas.openxmlformats.org/drawingml/2006/main"/>
        </p:blipFill>
        <p:spPr>
          <a:xfrm xmlns:a="http://schemas.openxmlformats.org/drawingml/2006/main">
            <a:off x="7780266" y="2219325"/>
            <a:ext cx="3727593" cy="36861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EFF225F-9759-463A-B7F8-F7FA9A938DB7}"/>
              </a:ext>
            </a:extLst>
          </p:cNvPr>
          <p:cNvSpPr>
            <a:spLocks xmlns:a="http://schemas.openxmlformats.org/drawingml/2006/main" noGrp="1"/>
          </p:cNvSpPr>
          <p:nvPr/>
        </p:nvSpPr>
        <p:spPr>
          <a:xfrm xmlns:a="http://schemas.openxmlformats.org/drawingml/2006/main">
            <a:off x="523875" y="598170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350" b="0">
                <a:solidFill>
                  <a:srgbClr val="A3B8B6"/>
                </a:solidFill>
                <a:latin typeface="Arial"/>
                <a:ea typeface="Arial"/>
                <a:cs typeface="Arial"/>
              </a:defRPr>
            </a:pPr>
            <a:r>
              <a:rPr sz="1350" b="0">
                <a:solidFill>
                  <a:srgbClr val="A3B8B6"/>
                </a:solidFill>
                <a:latin typeface="Arial"/>
                <a:ea typeface="Arial"/>
                <a:cs typeface="Arial"/>
              </a:rPr>
              <a:t>Gemini processes submitted content in the cloud. The guide does not record drops.</a:t>
            </a:r>
          </a:p>
        </p:txBody>
      </p:sp>
    </p:spTree>
    <p:extLst>
      <p:ext uri="{BB962C8B-B14F-4D97-AF65-F5344CB8AC3E}">
        <p14:creationId xmlns:p14="http://schemas.microsoft.com/office/powerpoint/2010/main" val="194444754"/>
      </p:ext>
    </p:extLst>
  </p:cSld>
</p:sld>
</file>

<file path=ppt/slides/slide9.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7b5ae041a084430"/>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57FA08D-8290-450F-B395-B7C8FA845D42}"/>
              </a:ext>
            </a:extLst>
          </p:cNvPr>
          <p:cNvSpPr>
            <a:spLocks xmlns:a="http://schemas.openxmlformats.org/drawingml/2006/main" noGrp="1"/>
          </p:cNvSpPr>
          <p:nvPr/>
        </p:nvSpPr>
        <p:spPr>
          <a:xfrm xmlns:a="http://schemas.openxmlformats.org/drawingml/2006/main">
            <a:off x="523875" y="11811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3750" b="1">
                <a:solidFill>
                  <a:srgbClr val="EFF7F4"/>
                </a:solidFill>
                <a:latin typeface="Arial"/>
                <a:ea typeface="Arial"/>
                <a:cs typeface="Arial"/>
              </a:defRPr>
            </a:pPr>
            <a:r>
              <a:rPr sz="3750" b="1">
                <a:solidFill>
                  <a:srgbClr val="EFF7F4"/>
                </a:solidFill>
                <a:latin typeface="Arial"/>
                <a:ea typeface="Arial"/>
                <a:cs typeface="Arial"/>
              </a:rPr>
              <a:t>Photon messaging companion</a:t>
            </a:r>
          </a:p>
        </p:txBody>
      </p:sp>
      <p:sp>
        <p:nvSpPr>
          <p:cNvPr id="3" name="">
            <a:extLst xmlns:a="http://schemas.openxmlformats.org/drawingml/2006/main">
              <a:ext uri="{FF2B5EF4-FFF2-40B4-BE49-F238E27FC236}">
                <a16:creationId xmlns:a16="http://schemas.microsoft.com/office/drawing/2014/main" id="{7DE66144-0E16-4F99-9C48-14557DC576E0}"/>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D1638F-0660-456B-A443-609A7E58943A}"/>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5" name="">
            <a:extLst xmlns:a="http://schemas.openxmlformats.org/drawingml/2006/main">
              <a:ext uri="{FF2B5EF4-FFF2-40B4-BE49-F238E27FC236}">
                <a16:creationId xmlns:a16="http://schemas.microsoft.com/office/drawing/2014/main" id="{B6268A88-25D1-4EAD-8300-7A29BD919E9E}"/>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E4947BF4-9676-45C1-8834-857231A681C2}"/>
              </a:ext>
            </a:extLst>
          </p:cNvPr>
          <p:cNvSpPr>
            <a:spLocks xmlns:a="http://schemas.openxmlformats.org/drawingml/2006/main" noGrp="1"/>
          </p:cNvSpPr>
          <p:nvPr/>
        </p:nvSpPr>
        <p:spPr>
          <a:xfrm xmlns:a="http://schemas.openxmlformats.org/drawingml/2006/main">
            <a:off x="523875" y="207645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175" b="0">
                <a:solidFill>
                  <a:srgbClr val="EFF7F4"/>
                </a:solidFill>
                <a:latin typeface="Arial"/>
                <a:ea typeface="Arial"/>
                <a:cs typeface="Arial"/>
              </a:defRPr>
            </a:pPr>
            <a:r>
              <a:rPr sz="2175" b="0">
                <a:solidFill>
                  <a:srgbClr val="EFF7F4"/>
                </a:solidFill>
                <a:latin typeface="Arial"/>
                <a:ea typeface="Arial"/>
                <a:cs typeface="Arial"/>
              </a:rPr>
              <a:t>iMessage, Telegram and dashboard chat</a:t>
            </a:r>
          </a:p>
        </p:txBody>
      </p:sp>
      <p:sp>
        <p:nvSpPr>
          <p:cNvPr id="7" name="">
            <a:extLst xmlns:a="http://schemas.openxmlformats.org/drawingml/2006/main">
              <a:ext uri="{FF2B5EF4-FFF2-40B4-BE49-F238E27FC236}">
                <a16:creationId xmlns:a16="http://schemas.microsoft.com/office/drawing/2014/main" id="{E855275A-7366-4E8B-B7AF-FC5CC6A79CEF}"/>
              </a:ext>
            </a:extLst>
          </p:cNvPr>
          <p:cNvSpPr>
            <a:spLocks xmlns:a="http://schemas.openxmlformats.org/drawingml/2006/main" noGrp="1"/>
          </p:cNvSpPr>
          <p:nvPr/>
        </p:nvSpPr>
        <p:spPr>
          <a:xfrm xmlns:a="http://schemas.openxmlformats.org/drawingml/2006/main">
            <a:off x="523875" y="270510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SHARED PROGRESS</a:t>
            </a:r>
          </a:p>
        </p:txBody>
      </p:sp>
      <p:sp>
        <p:nvSpPr>
          <p:cNvPr id="8" name="">
            <a:extLst xmlns:a="http://schemas.openxmlformats.org/drawingml/2006/main">
              <a:ext uri="{FF2B5EF4-FFF2-40B4-BE49-F238E27FC236}">
                <a16:creationId xmlns:a16="http://schemas.microsoft.com/office/drawing/2014/main" id="{D5D98BE8-2270-43EF-ACAB-2E1AE75E07AB}"/>
              </a:ext>
            </a:extLst>
          </p:cNvPr>
          <p:cNvSpPr>
            <a:spLocks xmlns:a="http://schemas.openxmlformats.org/drawingml/2006/main" noGrp="1"/>
          </p:cNvSpPr>
          <p:nvPr/>
        </p:nvSpPr>
        <p:spPr>
          <a:xfrm xmlns:a="http://schemas.openxmlformats.org/drawingml/2006/main">
            <a:off x="523875" y="3114675"/>
            <a:ext cx="666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Reads the same Pilot history</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as the dashboard.</a:t>
            </a:r>
          </a:p>
        </p:txBody>
      </p:sp>
      <p:sp>
        <p:nvSpPr>
          <p:cNvPr id="9" name="">
            <a:extLst xmlns:a="http://schemas.openxmlformats.org/drawingml/2006/main">
              <a:ext uri="{FF2B5EF4-FFF2-40B4-BE49-F238E27FC236}">
                <a16:creationId xmlns:a16="http://schemas.microsoft.com/office/drawing/2014/main" id="{B0B1D883-287B-42AA-8C4C-2DAB3B6DB9B3}"/>
              </a:ext>
            </a:extLst>
          </p:cNvPr>
          <p:cNvSpPr>
            <a:spLocks xmlns:a="http://schemas.openxmlformats.org/drawingml/2006/main" noGrp="1"/>
          </p:cNvSpPr>
          <p:nvPr/>
        </p:nvSpPr>
        <p:spPr>
          <a:xfrm xmlns:a="http://schemas.openxmlformats.org/drawingml/2006/main">
            <a:off x="523875" y="379095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SORTING ADVICE</a:t>
            </a:r>
          </a:p>
        </p:txBody>
      </p:sp>
      <p:sp>
        <p:nvSpPr>
          <p:cNvPr id="10" name="">
            <a:extLst xmlns:a="http://schemas.openxmlformats.org/drawingml/2006/main">
              <a:ext uri="{FF2B5EF4-FFF2-40B4-BE49-F238E27FC236}">
                <a16:creationId xmlns:a16="http://schemas.microsoft.com/office/drawing/2014/main" id="{4644A8A9-1CDC-4C9D-9B07-A551BAF04E3B}"/>
              </a:ext>
            </a:extLst>
          </p:cNvPr>
          <p:cNvSpPr>
            <a:spLocks xmlns:a="http://schemas.openxmlformats.org/drawingml/2006/main" noGrp="1"/>
          </p:cNvSpPr>
          <p:nvPr/>
        </p:nvSpPr>
        <p:spPr>
          <a:xfrm xmlns:a="http://schemas.openxmlformats.org/drawingml/2006/main">
            <a:off x="523875" y="4200525"/>
            <a:ext cx="666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Answers item questions with</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recycling context.</a:t>
            </a:r>
          </a:p>
        </p:txBody>
      </p:sp>
      <p:sp>
        <p:nvSpPr>
          <p:cNvPr id="11" name="">
            <a:extLst xmlns:a="http://schemas.openxmlformats.org/drawingml/2006/main">
              <a:ext uri="{FF2B5EF4-FFF2-40B4-BE49-F238E27FC236}">
                <a16:creationId xmlns:a16="http://schemas.microsoft.com/office/drawing/2014/main" id="{B1A790F1-9AC5-4EE2-B2AF-8B711E9A8E9A}"/>
              </a:ext>
            </a:extLst>
          </p:cNvPr>
          <p:cNvSpPr>
            <a:spLocks xmlns:a="http://schemas.openxmlformats.org/drawingml/2006/main" noGrp="1"/>
          </p:cNvSpPr>
          <p:nvPr/>
        </p:nvSpPr>
        <p:spPr>
          <a:xfrm xmlns:a="http://schemas.openxmlformats.org/drawingml/2006/main">
            <a:off x="523875" y="487680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025" b="1">
                <a:solidFill>
                  <a:srgbClr val="A2EFB6"/>
                </a:solidFill>
                <a:latin typeface="Arial"/>
                <a:ea typeface="Arial"/>
                <a:cs typeface="Arial"/>
              </a:defRPr>
            </a:pPr>
            <a:r>
              <a:rPr sz="2025" b="1">
                <a:solidFill>
                  <a:srgbClr val="A2EFB6"/>
                </a:solidFill>
                <a:latin typeface="Arial"/>
                <a:ea typeface="Arial"/>
                <a:cs typeface="Arial"/>
              </a:rPr>
              <a:t>CONFIRMED DROPS</a:t>
            </a:r>
          </a:p>
        </p:txBody>
      </p:sp>
      <p:sp>
        <p:nvSpPr>
          <p:cNvPr id="12" name="">
            <a:extLst xmlns:a="http://schemas.openxmlformats.org/drawingml/2006/main">
              <a:ext uri="{FF2B5EF4-FFF2-40B4-BE49-F238E27FC236}">
                <a16:creationId xmlns:a16="http://schemas.microsoft.com/office/drawing/2014/main" id="{EED8A305-4DFE-4280-B6B1-BED6691A3673}"/>
              </a:ext>
            </a:extLst>
          </p:cNvPr>
          <p:cNvSpPr>
            <a:spLocks xmlns:a="http://schemas.openxmlformats.org/drawingml/2006/main" noGrp="1"/>
          </p:cNvSpPr>
          <p:nvPr/>
        </p:nvSpPr>
        <p:spPr>
          <a:xfrm xmlns:a="http://schemas.openxmlformats.org/drawingml/2006/main">
            <a:off x="523875" y="5286375"/>
            <a:ext cx="666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A five-minute code confirms</a:t>
            </a:r>
          </a:p>
          <a:p xmlns:a="http://schemas.openxmlformats.org/drawingml/2006/main">
            <a:pPr>
              <a:buNone/>
              <a:defRPr sz="1875" b="0">
                <a:solidFill>
                  <a:srgbClr val="A3B8B6"/>
                </a:solidFill>
                <a:latin typeface="Arial"/>
                <a:ea typeface="Arial"/>
                <a:cs typeface="Arial"/>
              </a:defRPr>
            </a:pPr>
            <a:r>
              <a:rPr sz="1875" b="0">
                <a:solidFill>
                  <a:srgbClr val="A3B8B6"/>
                </a:solidFill>
                <a:latin typeface="Arial"/>
                <a:ea typeface="Arial"/>
                <a:cs typeface="Arial"/>
              </a:rPr>
              <a:t>a proposed collection record.</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eca8573e9b74173"/>
          <a:stretch xmlns:a="http://schemas.openxmlformats.org/drawingml/2006/main"/>
        </p:blipFill>
        <p:spPr>
          <a:xfrm xmlns:a="http://schemas.openxmlformats.org/drawingml/2006/main">
            <a:off x="7477125" y="2295525"/>
            <a:ext cx="4191000" cy="33528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9BE341B9-6DAB-4DCE-979A-217E167AF172}"/>
              </a:ext>
            </a:extLst>
          </p:cNvPr>
          <p:cNvSpPr>
            <a:spLocks xmlns:a="http://schemas.openxmlformats.org/drawingml/2006/main" noGrp="1"/>
          </p:cNvSpPr>
          <p:nvPr/>
        </p:nvSpPr>
        <p:spPr>
          <a:xfrm xmlns:a="http://schemas.openxmlformats.org/drawingml/2006/main">
            <a:off x="7477125" y="5734050"/>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350" b="0">
                <a:solidFill>
                  <a:srgbClr val="A3B8B6"/>
                </a:solidFill>
                <a:latin typeface="Arial"/>
                <a:ea typeface="Arial"/>
                <a:cs typeface="Arial"/>
              </a:defRPr>
            </a:pPr>
            <a:r>
              <a:rPr sz="1350" b="0">
                <a:solidFill>
                  <a:srgbClr val="A3B8B6"/>
                </a:solidFill>
                <a:latin typeface="Arial"/>
                <a:ea typeface="Arial"/>
                <a:cs typeface="Arial"/>
              </a:rPr>
              <a:t>Actual iMessage conversation</a:t>
            </a:r>
          </a:p>
        </p:txBody>
      </p:sp>
      <p:sp>
        <p:nvSpPr>
          <p:cNvPr id="15" name="">
            <a:extLst xmlns:a="http://schemas.openxmlformats.org/drawingml/2006/main">
              <a:ext uri="{FF2B5EF4-FFF2-40B4-BE49-F238E27FC236}">
                <a16:creationId xmlns:a16="http://schemas.microsoft.com/office/drawing/2014/main" id="{F464A626-FF9A-4ECA-85A7-5B9F26C48F83}"/>
              </a:ext>
            </a:extLst>
          </p:cNvPr>
          <p:cNvSpPr>
            <a:spLocks xmlns:a="http://schemas.openxmlformats.org/drawingml/2006/main" noGrp="1"/>
          </p:cNvSpPr>
          <p:nvPr/>
        </p:nvSpPr>
        <p:spPr>
          <a:xfrm xmlns:a="http://schemas.openxmlformats.org/drawingml/2006/main">
            <a:off x="523875" y="5991225"/>
            <a:ext cx="1114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350" b="0">
                <a:solidFill>
                  <a:srgbClr val="A3B8B6"/>
                </a:solidFill>
                <a:latin typeface="Arial"/>
                <a:ea typeface="Arial"/>
                <a:cs typeface="Arial"/>
              </a:defRPr>
            </a:pPr>
            <a:r>
              <a:rPr sz="1350" b="0">
                <a:solidFill>
                  <a:srgbClr val="A3B8B6"/>
                </a:solidFill>
                <a:latin typeface="Arial"/>
                <a:ea typeface="Arial"/>
                <a:cs typeface="Arial"/>
              </a:rPr>
              <a:t>Driving stays with the dashboard controls.</a:t>
            </a:r>
          </a:p>
        </p:txBody>
      </p:sp>
    </p:spTree>
    <p:extLst>
      <p:ext uri="{BB962C8B-B14F-4D97-AF65-F5344CB8AC3E}">
        <p14:creationId xmlns:p14="http://schemas.microsoft.com/office/powerpoint/2010/main" val="1579672186"/>
      </p:ext>
    </p:extLst>
  </p:cSld>
</p:sld>
</file>

<file path=ppt/slides/slide10.xml><?xml version="1.0" encoding="utf-8"?>
<p:sld xmlns:p="http://schemas.openxmlformats.org/presentationml/2006/main">
  <p:cSld>
    <p:bg>
      <p:bgPr>
        <a:solidFill xmlns:a="http://schemas.openxmlformats.org/drawingml/2006/main">
          <a:srgbClr val="10191D"/>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7a013f6320c442c"/>
          <a:stretch xmlns:a="http://schemas.openxmlformats.org/drawingml/2006/main"/>
        </p:blipFill>
        <p:spPr>
          <a:xfrm xmlns:a="http://schemas.openxmlformats.org/drawingml/2006/main">
            <a:off x="523875" y="432396"/>
            <a:ext cx="2533650" cy="37345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FD4BF9A-A9C4-4CE8-9375-09F7B28F9F65}"/>
              </a:ext>
            </a:extLst>
          </p:cNvPr>
          <p:cNvSpPr>
            <a:spLocks xmlns:a="http://schemas.openxmlformats.org/drawingml/2006/main" noGrp="1"/>
          </p:cNvSpPr>
          <p:nvPr/>
        </p:nvSpPr>
        <p:spPr>
          <a:xfrm xmlns:a="http://schemas.openxmlformats.org/drawingml/2006/main">
            <a:off x="523875" y="6286500"/>
            <a:ext cx="11144250" cy="9525"/>
          </a:xfrm>
          <a:prstGeom xmlns:a="http://schemas.openxmlformats.org/drawingml/2006/main" prst="rect">
            <a:avLst/>
          </a:prstGeom>
          <a:solidFill xmlns:a="http://schemas.openxmlformats.org/drawingml/2006/main">
            <a:srgbClr val="33464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78B24F-9225-40AD-B457-255D6AB5A448}"/>
              </a:ext>
            </a:extLst>
          </p:cNvPr>
          <p:cNvSpPr>
            <a:spLocks xmlns:a="http://schemas.openxmlformats.org/drawingml/2006/main" noGrp="1"/>
          </p:cNvSpPr>
          <p:nvPr/>
        </p:nvSpPr>
        <p:spPr>
          <a:xfrm xmlns:a="http://schemas.openxmlformats.org/drawingml/2006/main">
            <a:off x="523875" y="64484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HACKATHON BUILD</a:t>
            </a:r>
          </a:p>
        </p:txBody>
      </p:sp>
      <p:sp>
        <p:nvSpPr>
          <p:cNvPr id="4" name="">
            <a:extLst xmlns:a="http://schemas.openxmlformats.org/drawingml/2006/main">
              <a:ext uri="{FF2B5EF4-FFF2-40B4-BE49-F238E27FC236}">
                <a16:creationId xmlns:a16="http://schemas.microsoft.com/office/drawing/2014/main" id="{0FBC378D-993C-4CB6-A5DC-C9479A1EEC77}"/>
              </a:ext>
            </a:extLst>
          </p:cNvPr>
          <p:cNvSpPr>
            <a:spLocks xmlns:a="http://schemas.openxmlformats.org/drawingml/2006/main" noGrp="1"/>
          </p:cNvSpPr>
          <p:nvPr/>
        </p:nvSpPr>
        <p:spPr>
          <a:xfrm xmlns:a="http://schemas.openxmlformats.org/drawingml/2006/main">
            <a:off x="11334750" y="644842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200" b="1">
                <a:solidFill>
                  <a:srgbClr val="A3B8B6"/>
                </a:solidFill>
                <a:latin typeface="Arial"/>
                <a:ea typeface="Arial"/>
                <a:cs typeface="Arial"/>
              </a:defRPr>
            </a:pPr>
            <a:r>
              <a:rPr sz="1200" b="1">
                <a:solidFill>
                  <a:srgbClr val="A3B8B6"/>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6AF0F7E1-F6C5-4DF8-AED6-A67E452FD8AD}"/>
              </a:ext>
            </a:extLst>
          </p:cNvPr>
          <p:cNvSpPr>
            <a:spLocks xmlns:a="http://schemas.openxmlformats.org/drawingml/2006/main" noGrp="1"/>
          </p:cNvSpPr>
          <p:nvPr/>
        </p:nvSpPr>
        <p:spPr>
          <a:xfrm xmlns:a="http://schemas.openxmlformats.org/drawingml/2006/main">
            <a:off x="523875" y="1657350"/>
            <a:ext cx="60483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6000" b="1">
                <a:solidFill>
                  <a:srgbClr val="EFF7F4"/>
                </a:solidFill>
                <a:latin typeface="Arial"/>
                <a:ea typeface="Arial"/>
                <a:cs typeface="Arial"/>
              </a:defRPr>
            </a:pPr>
            <a:r>
              <a:rPr sz="6000" b="1">
                <a:solidFill>
                  <a:srgbClr val="EFF7F4"/>
                </a:solidFill>
                <a:latin typeface="Arial"/>
                <a:ea typeface="Arial"/>
                <a:cs typeface="Arial"/>
              </a:rPr>
              <a:t>Recognize.</a:t>
            </a:r>
          </a:p>
          <a:p xmlns:a="http://schemas.openxmlformats.org/drawingml/2006/main">
            <a:pPr>
              <a:buNone/>
              <a:defRPr sz="6000" b="1">
                <a:solidFill>
                  <a:srgbClr val="EFF7F4"/>
                </a:solidFill>
                <a:latin typeface="Arial"/>
                <a:ea typeface="Arial"/>
                <a:cs typeface="Arial"/>
              </a:defRPr>
            </a:pPr>
            <a:r>
              <a:rPr sz="6000" b="1">
                <a:solidFill>
                  <a:srgbClr val="EFF7F4"/>
                </a:solidFill>
                <a:latin typeface="Arial"/>
                <a:ea typeface="Arial"/>
                <a:cs typeface="Arial"/>
              </a:rPr>
              <a:t>Sort.</a:t>
            </a:r>
          </a:p>
          <a:p xmlns:a="http://schemas.openxmlformats.org/drawingml/2006/main">
            <a:pPr>
              <a:buNone/>
              <a:defRPr sz="6000" b="1">
                <a:solidFill>
                  <a:srgbClr val="EFF7F4"/>
                </a:solidFill>
                <a:latin typeface="Arial"/>
                <a:ea typeface="Arial"/>
                <a:cs typeface="Arial"/>
              </a:defRPr>
            </a:pPr>
            <a:r>
              <a:rPr sz="6000" b="1">
                <a:solidFill>
                  <a:srgbClr val="EFF7F4"/>
                </a:solidFill>
                <a:latin typeface="Arial"/>
                <a:ea typeface="Arial"/>
                <a:cs typeface="Arial"/>
              </a:rPr>
              <a:t>Connect.</a:t>
            </a:r>
          </a:p>
        </p:txBody>
      </p:sp>
      <p:sp>
        <p:nvSpPr>
          <p:cNvPr id="6" name="">
            <a:extLst xmlns:a="http://schemas.openxmlformats.org/drawingml/2006/main">
              <a:ext uri="{FF2B5EF4-FFF2-40B4-BE49-F238E27FC236}">
                <a16:creationId xmlns:a16="http://schemas.microsoft.com/office/drawing/2014/main" id="{726B3E53-B032-466A-B576-FE19571A6CC4}"/>
              </a:ext>
            </a:extLst>
          </p:cNvPr>
          <p:cNvSpPr>
            <a:spLocks xmlns:a="http://schemas.openxmlformats.org/drawingml/2006/main" noGrp="1"/>
          </p:cNvSpPr>
          <p:nvPr/>
        </p:nvSpPr>
        <p:spPr>
          <a:xfrm xmlns:a="http://schemas.openxmlformats.org/drawingml/2006/main">
            <a:off x="523875" y="5067300"/>
            <a:ext cx="638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2175" b="0">
                <a:solidFill>
                  <a:srgbClr val="A3B8B6"/>
                </a:solidFill>
                <a:latin typeface="Arial"/>
                <a:ea typeface="Arial"/>
                <a:cs typeface="Arial"/>
              </a:defRPr>
            </a:pPr>
            <a:r>
              <a:rPr sz="2175" b="0">
                <a:solidFill>
                  <a:srgbClr val="A3B8B6"/>
                </a:solidFill>
                <a:latin typeface="Arial"/>
                <a:ea typeface="Arial"/>
                <a:cs typeface="Arial"/>
              </a:rPr>
              <a:t>Local vision. Automatic lids.</a:t>
            </a:r>
          </a:p>
          <a:p xmlns:a="http://schemas.openxmlformats.org/drawingml/2006/main">
            <a:pPr>
              <a:buNone/>
              <a:defRPr sz="2175" b="0">
                <a:solidFill>
                  <a:srgbClr val="A3B8B6"/>
                </a:solidFill>
                <a:latin typeface="Arial"/>
                <a:ea typeface="Arial"/>
                <a:cs typeface="Arial"/>
              </a:defRPr>
            </a:pPr>
            <a:r>
              <a:rPr sz="2175" b="0">
                <a:solidFill>
                  <a:srgbClr val="A3B8B6"/>
                </a:solidFill>
                <a:latin typeface="Arial"/>
                <a:ea typeface="Arial"/>
                <a:cs typeface="Arial"/>
              </a:rPr>
              <a:t>Shared recycling history.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cfdd51d9a8e4dc9"/>
          <a:stretch xmlns:a="http://schemas.openxmlformats.org/drawingml/2006/main"/>
        </p:blipFill>
        <p:spPr>
          <a:xfrm xmlns:a="http://schemas.openxmlformats.org/drawingml/2006/main">
            <a:off x="7096125" y="1294744"/>
            <a:ext cx="4572000" cy="4544737"/>
          </a:xfrm>
          <a:prstGeom xmlns:a="http://schemas.openxmlformats.org/drawingml/2006/main" prst="rect">
            <a:avLst/>
          </a:prstGeom>
        </p:spPr>
      </p:pic>
    </p:spTree>
    <p:extLst>
      <p:ext uri="{BB962C8B-B14F-4D97-AF65-F5344CB8AC3E}">
        <p14:creationId xmlns:p14="http://schemas.microsoft.com/office/powerpoint/2010/main" val="20684174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2026-10-04T11:30:23.4150000Z</dcterms:created>
  <dcterms:modified xsi:type="dcterms:W3CDTF">2026-10-04T11:30:23.4150000Z</dcterms:modified>
</coreProperties>
</file>