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424bd38c6746b8" /><Relationship Type="http://schemas.openxmlformats.org/officeDocument/2006/relationships/extended-properties" Target="/docProps/app.xml" Id="Rae6632bebd284e99" /><Relationship Type="http://schemas.openxmlformats.org/officeDocument/2006/relationships/officeDocument" Target="/ppt/presentation.xml" Id="Rc6cde86782484a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1d0db9fc2c46cd"/>
  </p:sldMasterIdLst>
  <p:notesMasterIdLst>
    <p:notesMasterId xmlns:r="http://schemas.openxmlformats.org/officeDocument/2006/relationships" r:id="Rabd3e40f3d694c88"/>
  </p:notesMasterIdLst>
  <p:sldIdLst>
    <p:sldId xmlns:r="http://schemas.openxmlformats.org/officeDocument/2006/relationships" id="256" r:id="Ra0f2d0d047fe4da4"/>
    <p:sldId xmlns:r="http://schemas.openxmlformats.org/officeDocument/2006/relationships" id="257" r:id="R7b59ab0ba1424a9b"/>
    <p:sldId xmlns:r="http://schemas.openxmlformats.org/officeDocument/2006/relationships" id="258" r:id="Rd33d1a2377d64de1"/>
    <p:sldId xmlns:r="http://schemas.openxmlformats.org/officeDocument/2006/relationships" id="259" r:id="Ra75247ca88714027"/>
    <p:sldId xmlns:r="http://schemas.openxmlformats.org/officeDocument/2006/relationships" id="260" r:id="Redc925b9e7c148d8"/>
    <p:sldId xmlns:r="http://schemas.openxmlformats.org/officeDocument/2006/relationships" id="261" r:id="R4707bdf4555a4539"/>
    <p:sldId xmlns:r="http://schemas.openxmlformats.org/officeDocument/2006/relationships" id="262" r:id="R6f1197311dc44e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02e47775484ded" /><Relationship Type="http://schemas.openxmlformats.org/officeDocument/2006/relationships/slideMaster" Target="/ppt/slideMasters/slideMaster1.xml" Id="Rea1d0db9fc2c46cd" /><Relationship Type="http://schemas.openxmlformats.org/officeDocument/2006/relationships/notesMaster" Target="/ppt/notesMasters/notesMaster1.xml" Id="Rabd3e40f3d694c88" /><Relationship Type="http://schemas.openxmlformats.org/officeDocument/2006/relationships/presProps" Target="/ppt/presProps.xml" Id="R38064e8490f24411" /><Relationship Type="http://schemas.openxmlformats.org/officeDocument/2006/relationships/tableStyles" Target="/ppt/tableStyles.xml" Id="R0dd66d18e1254730" /><Relationship Type="http://schemas.openxmlformats.org/officeDocument/2006/relationships/slide" Target="/ppt/slides/slide1.xml" Id="Ra0f2d0d047fe4da4" /><Relationship Type="http://schemas.openxmlformats.org/officeDocument/2006/relationships/slide" Target="/ppt/slides/slide2.xml" Id="R7b59ab0ba1424a9b" /><Relationship Type="http://schemas.openxmlformats.org/officeDocument/2006/relationships/slide" Target="/ppt/slides/slide3.xml" Id="Rd33d1a2377d64de1" /><Relationship Type="http://schemas.openxmlformats.org/officeDocument/2006/relationships/slide" Target="/ppt/slides/slide4.xml" Id="Ra75247ca88714027" /><Relationship Type="http://schemas.openxmlformats.org/officeDocument/2006/relationships/slide" Target="/ppt/slides/slide5.xml" Id="Redc925b9e7c148d8" /><Relationship Type="http://schemas.openxmlformats.org/officeDocument/2006/relationships/slide" Target="/ppt/slides/slide6.xml" Id="R4707bdf4555a4539" /><Relationship Type="http://schemas.openxmlformats.org/officeDocument/2006/relationships/slide" Target="/ppt/slides/slide7.xml" Id="R6f1197311dc44e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2a3d5c3d6f4c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72f81940d143e9" /><Relationship Type="http://schemas.openxmlformats.org/officeDocument/2006/relationships/notesMaster" Target="/ppt/notesMasters/notesMaster1.xml" Id="Rbf0dcef7d96d45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942c8e079c4157" /><Relationship Type="http://schemas.openxmlformats.org/officeDocument/2006/relationships/notesMaster" Target="/ppt/notesMasters/notesMaster1.xml" Id="Ra4f939db489646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1ecabdd71e43cf" /><Relationship Type="http://schemas.openxmlformats.org/officeDocument/2006/relationships/notesMaster" Target="/ppt/notesMasters/notesMaster1.xml" Id="R8222854ac7f64c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1efdb8edf14a33" /><Relationship Type="http://schemas.openxmlformats.org/officeDocument/2006/relationships/notesMaster" Target="/ppt/notesMasters/notesMaster1.xml" Id="R6dee2fbc6ecc4b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1ee0eda27849d5" /><Relationship Type="http://schemas.openxmlformats.org/officeDocument/2006/relationships/notesMaster" Target="/ppt/notesMasters/notesMaster1.xml" Id="Rda5c5ad094e943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53cdf40ad24b40" /><Relationship Type="http://schemas.openxmlformats.org/officeDocument/2006/relationships/notesMaster" Target="/ppt/notesMasters/notesMaster1.xml" Id="Rda099076c55341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1c260a5e104685" /><Relationship Type="http://schemas.openxmlformats.org/officeDocument/2006/relationships/notesMaster" Target="/ppt/notesMasters/notesMaster1.xml" Id="R8ad2a39aa3fd4d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overview. Sources: README.md; docs/hardware.md; docs/architecture.md. Hardware photograph: Media/IMG_3596.jpg. Photo preserves the actual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docs/architecture.md, especially Two Pis in practice; docs/hardware.md; web_server.py; BRH_Test/rover_bridge.py; BRH_Test/driveController/driveController.ino. The laptop hosts Flask and CLIP. Separate Pi processes handle drive and camera/lids. TigerData is a remote PostgreSQL service. Hardware photo: Media/IMG_3597.jpg.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classifier.py MODEL_ID, TARGETS, Classifier.predict; classifier_service.py ItemLock.READINGS and LOCK_SECONDS. Default model is openai/clip-vit-large-patch14. The model compares the whole frame with text candidates, including non-target labels. Only four item families are reported. Three or more readings spanning at least 0.5 seconds form a lock. Relative scores are candidate comparisons, not accuracy probabilities. Screenshot: source recording at 167.5 seconds, actual bottle and recycling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classifier_service.py Service.track; lid.py RemoteLid and Lid; lid_server.py; docs/hardware.md. Live locked readings trigger open Trash or open Recyclable through UDP 5006. The lid Pi controls PCA9685 over I2C, channel 0 trash and channel 3 recycling. HOLD_SECONDS=5 after the last reading. Lid automation must be enabled. Photos do not open lids. Image: Media/IMG_3595.jpg.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BRH_Test/rover_bridge.py set_mode, _camera_loop, _watchdog; BRH_Test/voice_control.py DRIVE_TOOL and DIRECTION_TO_CMD; docs/hardware.md. Website directions support keyboard, touch/mouse. Grok voice uses xAI realtime WebSocket and invokes drive_rover. MediaPipe runs locally; wrist-to-index-tip angle is rounded to five degrees and sent over Bluetooth. Wi-Fi receiver supports WASD, not angles. One driving session at a time. Heartbeat loss beyond 1.5 seconds stops/releases rover. Hand image: Media/HandGuestureProof.png.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BRH_Test/database.py initialize, add_detection, add_collection, bin_contents, empty_bin; dashboard_classifier.py log_detection and auto_recorded; docs/architecture.md Logging and points. Each locked live scan and each photo records item, bin, score, source, time. Unique scan_id avoids duplicate rows as frames repeat. With configured DATABASE_URL the backend uses TigerData PostgreSQL, otherwise SQLite. Lids opening auto-records one collection event per locked scan. The camera does not verify a physical deposit. Photos and disabled lids require manual confirmation. No images stored in the ledger. Screenshot: output/video/assets/live-log-site.png. README.md manual-confirmation wording is older than the current automatic collection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BRH_Test/GEMINI.md; BRH_Test/gemini_guide.py; web/gemini.js. Guide accepts question, optional location and selected photo. Photos are decoded, resized and stripped of EXIF. Submitted content goes to Google Gemini. It is a separate advisory flow with no drive, lid or ledger tools and no live municipal-rule lookup. Screenshot: Media/Gemini-Integration.png.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16cdf8f044f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75073c61b246f7" /><Relationship Type="http://schemas.openxmlformats.org/officeDocument/2006/relationships/slideLayout" Target="/ppt/slideLayouts/slideLayout1.xml" Id="Rd663cdb4c58443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63cdb4c58443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8b1cddd354000" /><Relationship Type="http://schemas.openxmlformats.org/officeDocument/2006/relationships/image" Target="/ppt/media/image.jpeg" Id="R7e00c96567ab4989" /><Relationship Type="http://schemas.openxmlformats.org/officeDocument/2006/relationships/notesSlide" Target="/ppt/notesSlides/notesSlide1.xml" Id="R7055f37f6ba241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d34387e344795" /><Relationship Type="http://schemas.openxmlformats.org/officeDocument/2006/relationships/image" Target="/ppt/media/image2.jpeg" Id="R6bd6bc3b97fc4ba8" /><Relationship Type="http://schemas.openxmlformats.org/officeDocument/2006/relationships/notesSlide" Target="/ppt/notesSlides/notesSlide2.xml" Id="Rcd48e6c1bab148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14c0963094aed" /><Relationship Type="http://schemas.openxmlformats.org/officeDocument/2006/relationships/image" Target="/ppt/media/image.png" Id="R0f359a48ad544ad0" /><Relationship Type="http://schemas.openxmlformats.org/officeDocument/2006/relationships/notesSlide" Target="/ppt/notesSlides/notesSlide3.xml" Id="R839abebadcfc43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943d7e19d440d" /><Relationship Type="http://schemas.openxmlformats.org/officeDocument/2006/relationships/image" Target="/ppt/media/image3.jpeg" Id="Rea62fb43a0e8434c" /><Relationship Type="http://schemas.openxmlformats.org/officeDocument/2006/relationships/notesSlide" Target="/ppt/notesSlides/notesSlide4.xml" Id="R11314c3f5f0943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c4e5bcc504c00" /><Relationship Type="http://schemas.openxmlformats.org/officeDocument/2006/relationships/image" Target="/ppt/media/image2.png" Id="Rb3d0e20dfe1446fe" /><Relationship Type="http://schemas.openxmlformats.org/officeDocument/2006/relationships/notesSlide" Target="/ppt/notesSlides/notesSlide5.xml" Id="Rb63bc5e47ccf41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4c300f9294786" /><Relationship Type="http://schemas.openxmlformats.org/officeDocument/2006/relationships/image" Target="/ppt/media/image3.png" Id="R1e818124708b41a9" /><Relationship Type="http://schemas.openxmlformats.org/officeDocument/2006/relationships/notesSlide" Target="/ppt/notesSlides/notesSlide6.xml" Id="R19cab2c5a84142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a65c1c93e4943" /><Relationship Type="http://schemas.openxmlformats.org/officeDocument/2006/relationships/image" Target="/ppt/media/image4.png" Id="R27ab8bd22e6c4e01" /><Relationship Type="http://schemas.openxmlformats.org/officeDocument/2006/relationships/notesSlide" Target="/ppt/notesSlides/notesSlide7.xml" Id="R08bb29f95c7941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A2E11-F2FB-40D5-899C-2C511694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25336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EF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91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91D"/>
                </a:solidFill>
                <a:latin typeface="Segoe UI"/>
                <a:ea typeface="Segoe UI"/>
                <a:cs typeface="Segoe UI"/>
              </a:rPr>
              <a:t>LITTER-ALLY TRASH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F27F5-75E6-455B-8D76-79069240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AE584-7450-4093-BB38-282666C7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F3451-6F2C-4A47-BAD6-9F1A991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5680C-3934-4897-968E-BA006290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60483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Recognize.</a:t>
            </a:r>
          </a:p>
          <a:p xmlns:a="http://schemas.openxmlformats.org/drawingml/2006/main">
            <a:pPr>
              <a:defRPr sz="600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Sort.</a:t>
            </a:r>
          </a:p>
          <a:p xmlns:a="http://schemas.openxmlformats.org/drawingml/2006/main">
            <a:pPr>
              <a:defRPr sz="600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Connect.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2D6DC-188D-48C5-9E22-292E0BCA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33950"/>
            <a:ext cx="619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A mobile trash-sorting rover</a:t>
            </a:r>
          </a:p>
          <a:p xmlns:a="http://schemas.openxmlformats.org/drawingml/2006/main">
            <a:pPr>
              <a:defRPr sz="21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with local vision and a shared dashboard.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0c96567ab4989"/>
          <a:srcRect xmlns:a="http://schemas.openxmlformats.org/drawingml/2006/main" l="2419" t="0" r="24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125" y="428625"/>
            <a:ext cx="4572000" cy="557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7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F448A-1EFC-48E1-9884-F964931C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25336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EF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91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91D"/>
                </a:solidFill>
                <a:latin typeface="Segoe UI"/>
                <a:ea typeface="Segoe UI"/>
                <a:cs typeface="Segoe UI"/>
              </a:rPr>
              <a:t>LITTER-ALLY TRASH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FFA2E-001C-4686-9EDF-3516D6A1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The software and hardware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32F93-86CB-4A3C-8C2C-8666C272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951B3-D703-4A1E-B153-ADD15377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0193-B86B-41CC-AAD3-8E4F1DA7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D8571-5299-40F7-8293-E9A7BFA5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700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LAPTOP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20C18-00F3-489A-948D-38283DE7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2225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Flask serves the dashboard.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CLIP runs inference on the laptop.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B0782-A6E0-437A-95FD-F5164ABE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48050"/>
            <a:ext cx="700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TWO RASPBERRY 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6627D-FB66-4825-BD8F-1E591D47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One relays drive commands.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other streams the camera and moves lids.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931C7-39F0-44F3-9FD4-AA63CC5F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43450"/>
            <a:ext cx="700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ARDUINO + CNC SHIELD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858B1-9693-416F-A1C5-30FC4607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53025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USB serial reaches the motor controller.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Four steppers drive the mecanum wheels.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6bc3b97fc4ba8"/>
          <a:srcRect xmlns:a="http://schemas.openxmlformats.org/drawingml/2006/main" l="0" t="11600" r="0" b="116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2095500"/>
            <a:ext cx="3571875" cy="3886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556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CFDB2-C455-47D3-874C-8581A42F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25336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EF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91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91D"/>
                </a:solidFill>
                <a:latin typeface="Segoe UI"/>
                <a:ea typeface="Segoe UI"/>
                <a:cs typeface="Segoe UI"/>
              </a:rPr>
              <a:t>LITTER-ALLY TRASH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5301E-5FCC-451C-841E-1DA1CC00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Local CLIP recognition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52BB4-9DA9-496F-997B-DC1D9E10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3B05C-5654-4DA2-9AFC-9478A1CE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E960A-F758-4DF9-B9E8-DF3DF471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41B98-D060-4FD1-840F-8D021A36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laptop compares camera</a:t>
            </a:r>
          </a:p>
          <a:p xmlns:a="http://schemas.openxmlformats.org/drawingml/2006/main">
            <a:pPr>
              <a:defRPr sz="21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frames with text labels.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3FE35-7908-4BF6-8A57-76336DAA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718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CLIP ViT-L/14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B3162-DA70-4ADB-85A9-BF63DE53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2905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RECYCLING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00E6E-C720-4DC4-8C81-54990EAE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404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Bottle and cardboard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221DE-7FB6-4043-B141-3C012F0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3870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TRASH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396B9-AB6D-4F56-B9AB-35D34AFC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81600"/>
            <a:ext cx="404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Paper towel and chip bag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59a48ad544ad0"/>
          <a:stretch xmlns:a="http://schemas.openxmlformats.org/drawingml/2006/main"/>
        </p:blipFill>
        <p:spPr>
          <a:xfrm xmlns:a="http://schemas.openxmlformats.org/drawingml/2006/main">
            <a:off x="4714875" y="2369772"/>
            <a:ext cx="6953250" cy="266138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4DE6D-33E7-48E3-AD38-7DEAFBAB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334000"/>
            <a:ext cx="676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Three readings over at least 0.5 seconds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produce a stable item lock.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87BB3-03BF-4EB0-938E-40D1B3CD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7217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Other labels return no supported item. Match scores compare candidates.</a:t>
            </a:r>
          </a:p>
        </p:txBody>
      </p:sp>
    </p:spTree>
    <p:extLst>
      <p:ext uri="{BB962C8B-B14F-4D97-AF65-F5344CB8AC3E}">
        <p14:creationId xmlns:p14="http://schemas.microsoft.com/office/powerpoint/2010/main" val="939324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701F0-AD5E-4A94-8BAF-4F130BCA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25336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EF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91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91D"/>
                </a:solidFill>
                <a:latin typeface="Segoe UI"/>
                <a:ea typeface="Segoe UI"/>
                <a:cs typeface="Segoe UI"/>
              </a:rPr>
              <a:t>LITTER-ALLY TRASH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96866-FB25-4F43-BFD0-002AEF21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A detection opens the matching lid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4F97C-AB78-42AA-9D39-AB3EB076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F54FC-F85C-44D0-89D9-A78D8570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EB9A5-D0FB-400C-B309-43E6A455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DEC0F-A7C3-437E-9AD6-15461104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7170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LIVE ITEM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31433-8FF0-4878-B4D1-67255BC6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812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laptop sends the bin command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over Wi-Fi UDP to the lid Pi.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34CB7-77F9-4B34-BEA0-100A42D4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CALIBRATED SERVO LIDS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8E480-D816-4DC6-9B2D-8A9D41A4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3382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Pi drives the PCA9685 over I²C.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Each bin has its own servo channel.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59087-10E1-4E41-97DB-37A69FFE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AUTOMATIC CLOSE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8FB4B-E170-4562-AEB8-AA52F012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lid stays open for about 5 seconds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after the last matching reading.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2fb43a0e8434c"/>
          <a:srcRect xmlns:a="http://schemas.openxmlformats.org/drawingml/2006/main" l="0" t="72" r="0" b="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181225"/>
            <a:ext cx="3905250" cy="37814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08304-0E6D-4975-8128-B487CF2A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9122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Automatic lids use live scans when enabled. Photo uploads do not open lids.</a:t>
            </a:r>
          </a:p>
        </p:txBody>
      </p:sp>
    </p:spTree>
    <p:extLst>
      <p:ext uri="{BB962C8B-B14F-4D97-AF65-F5344CB8AC3E}">
        <p14:creationId xmlns:p14="http://schemas.microsoft.com/office/powerpoint/2010/main" val="630969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88F80-E072-44AB-B402-E5CFFA70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25336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EF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91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91D"/>
                </a:solidFill>
                <a:latin typeface="Segoe UI"/>
                <a:ea typeface="Segoe UI"/>
                <a:cs typeface="Segoe UI"/>
              </a:rPr>
              <a:t>LITTER-ALLY TRASH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C79A8-020C-432D-B993-28D92FE8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Website, voice and hand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F80D8-149F-4893-B686-6572DE61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028B1-E540-4E6D-9542-6C167797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18593-5756-45A9-9D91-12124CA9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9164B-0266-4826-BF14-3E513BF8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WEBSITE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4E0B4-AEC4-46CE-AF8B-F2F8B347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43175"/>
            <a:ext cx="719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Direction buttons and throttle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send commands through the rover bridge.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B0C8A-197E-42D2-919B-B03401E8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GROK 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2C214-DA03-49AA-B4F1-0EEFC64E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43325"/>
            <a:ext cx="719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Spoken directions call a drive tool.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bridge sends the motor command.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5CC5F-A2BE-4705-B03F-AE86098C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MEDIAPIPE HAND 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DEB2F-9EB2-4115-961F-79174371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43475"/>
            <a:ext cx="719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Wrist-to-fingertip angle sets direction.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Bluetooth carries the angle to the rover.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0e20dfe1446fe"/>
          <a:stretch xmlns:a="http://schemas.openxmlformats.org/drawingml/2006/main"/>
        </p:blipFill>
        <p:spPr>
          <a:xfrm xmlns:a="http://schemas.openxmlformats.org/drawingml/2006/main">
            <a:off x="8477250" y="2167512"/>
            <a:ext cx="3190875" cy="34659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1E20E-57D3-4CC5-9BC0-0E5B94E7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One driving browser at a time. A missing heartbeat stops the rover after 1.5 seconds.</a:t>
            </a:r>
          </a:p>
        </p:txBody>
      </p:sp>
    </p:spTree>
    <p:extLst>
      <p:ext uri="{BB962C8B-B14F-4D97-AF65-F5344CB8AC3E}">
        <p14:creationId xmlns:p14="http://schemas.microsoft.com/office/powerpoint/2010/main" val="1508526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DC81A-DF22-4203-99A0-C3BAD80C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25336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EF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91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91D"/>
                </a:solidFill>
                <a:latin typeface="Segoe UI"/>
                <a:ea typeface="Segoe UI"/>
                <a:cs typeface="Segoe UI"/>
              </a:rPr>
              <a:t>LITTER-ALLY TRASH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D3E4A-9619-46F4-97D6-61E45ECF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Every detection has a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612C7-EB16-42BC-8A94-EDE147F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177C3-FC86-492F-B70B-1FA7340B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DA077-8602-4BBA-90CB-85B719F3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AEC4E-6644-4415-A4D6-71AD8DC9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TigerData PostgreSQL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73FDA-6E13-4A8B-8688-F8CE0B6D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76525"/>
            <a:ext cx="1114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Computers and phones access the same history</a:t>
            </a:r>
          </a:p>
          <a:p xmlns:a="http://schemas.openxmlformats.org/drawingml/2006/main">
            <a:pPr>
              <a:defRPr sz="21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through the dashboard.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18124708b41a9"/>
          <a:stretch xmlns:a="http://schemas.openxmlformats.org/drawingml/2006/main"/>
        </p:blipFill>
        <p:spPr>
          <a:xfrm xmlns:a="http://schemas.openxmlformats.org/drawingml/2006/main">
            <a:off x="2166439" y="3667125"/>
            <a:ext cx="7859123" cy="2305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B5A00-ACE6-4324-B353-2BE149D3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194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One scan ID prevents repeat frames from creating duplicate records.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8D0E6-05BD-4F19-ACB5-B4CE5335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ledger stores metadata, not camera images. Lid openings record collection events.</a:t>
            </a:r>
          </a:p>
        </p:txBody>
      </p:sp>
    </p:spTree>
    <p:extLst>
      <p:ext uri="{BB962C8B-B14F-4D97-AF65-F5344CB8AC3E}">
        <p14:creationId xmlns:p14="http://schemas.microsoft.com/office/powerpoint/2010/main" val="1849091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58BFE-2C7B-43B6-A0FE-98258012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25336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EF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91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91D"/>
                </a:solidFill>
                <a:latin typeface="Segoe UI"/>
                <a:ea typeface="Segoe UI"/>
                <a:cs typeface="Segoe UI"/>
              </a:rPr>
              <a:t>LITTER-ALLY TRASH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19CE4-D48E-4D42-9D6E-DC736F3F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Gemini guidance for unfamiliar items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CA105-D0D2-409E-B726-CBDA968C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314A3-8C9E-4D4E-A2CC-6E1F5018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2CC11-7758-452F-A30A-F419D312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FA3A8-BCFC-419C-B0E5-0625A142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05025"/>
            <a:ext cx="1114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Submit a photo or describe the item.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21975-D1EC-44E2-A35F-EBAB5189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2225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Get material guidance, preparation steps and reuse ideas.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b8bd22e6c4e01"/>
          <a:stretch xmlns:a="http://schemas.openxmlformats.org/drawingml/2006/main"/>
        </p:blipFill>
        <p:spPr>
          <a:xfrm xmlns:a="http://schemas.openxmlformats.org/drawingml/2006/main">
            <a:off x="884512" y="3200400"/>
            <a:ext cx="10422975" cy="2667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B2584-4EC4-4EE2-9542-630ED611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Gemini uses the cloud. It provides advice without controlling the rover or recording drops.</a:t>
            </a:r>
          </a:p>
        </p:txBody>
      </p:sp>
    </p:spTree>
    <p:extLst>
      <p:ext uri="{BB962C8B-B14F-4D97-AF65-F5344CB8AC3E}">
        <p14:creationId xmlns:p14="http://schemas.microsoft.com/office/powerpoint/2010/main" val="1291576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2026-10-04T11:17:58.2310000Z</dcterms:created>
  <dcterms:modified xsi:type="dcterms:W3CDTF">2026-10-04T11:17:58.2310000Z</dcterms:modified>
</coreProperties>
</file>