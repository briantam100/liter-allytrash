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949d40b104517" /><Relationship Type="http://schemas.openxmlformats.org/officeDocument/2006/relationships/extended-properties" Target="/docProps/app.xml" Id="R47b0ae3f26b34282" /><Relationship Type="http://schemas.openxmlformats.org/officeDocument/2006/relationships/officeDocument" Target="/ppt/presentation.xml" Id="R967f340c678247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3b44399994e48"/>
  </p:sldMasterIdLst>
  <p:notesMasterIdLst>
    <p:notesMasterId xmlns:r="http://schemas.openxmlformats.org/officeDocument/2006/relationships" r:id="R0f9798793ed249ba"/>
  </p:notesMasterIdLst>
  <p:sldIdLst>
    <p:sldId xmlns:r="http://schemas.openxmlformats.org/officeDocument/2006/relationships" id="256" r:id="Rf0da8a46f1a64297"/>
    <p:sldId xmlns:r="http://schemas.openxmlformats.org/officeDocument/2006/relationships" id="257" r:id="R6338203e4a484351"/>
    <p:sldId xmlns:r="http://schemas.openxmlformats.org/officeDocument/2006/relationships" id="258" r:id="R6b8171ae8741403d"/>
    <p:sldId xmlns:r="http://schemas.openxmlformats.org/officeDocument/2006/relationships" id="259" r:id="R94c42f1db3434048"/>
    <p:sldId xmlns:r="http://schemas.openxmlformats.org/officeDocument/2006/relationships" id="260" r:id="R81cf6b5f388145b7"/>
    <p:sldId xmlns:r="http://schemas.openxmlformats.org/officeDocument/2006/relationships" id="261" r:id="R585523b8c0a042bf"/>
    <p:sldId xmlns:r="http://schemas.openxmlformats.org/officeDocument/2006/relationships" id="262" r:id="Re19c68350b2349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644068c66c465b" /><Relationship Type="http://schemas.openxmlformats.org/officeDocument/2006/relationships/slideMaster" Target="/ppt/slideMasters/slideMaster1.xml" Id="R55e3b44399994e48" /><Relationship Type="http://schemas.openxmlformats.org/officeDocument/2006/relationships/notesMaster" Target="/ppt/notesMasters/notesMaster1.xml" Id="R0f9798793ed249ba" /><Relationship Type="http://schemas.openxmlformats.org/officeDocument/2006/relationships/presProps" Target="/ppt/presProps.xml" Id="R3c3a0a8fef234acd" /><Relationship Type="http://schemas.openxmlformats.org/officeDocument/2006/relationships/tableStyles" Target="/ppt/tableStyles.xml" Id="R3d9b9b9ce10e46ec" /><Relationship Type="http://schemas.openxmlformats.org/officeDocument/2006/relationships/slide" Target="/ppt/slides/slide1.xml" Id="Rf0da8a46f1a64297" /><Relationship Type="http://schemas.openxmlformats.org/officeDocument/2006/relationships/slide" Target="/ppt/slides/slide2.xml" Id="R6338203e4a484351" /><Relationship Type="http://schemas.openxmlformats.org/officeDocument/2006/relationships/slide" Target="/ppt/slides/slide3.xml" Id="R6b8171ae8741403d" /><Relationship Type="http://schemas.openxmlformats.org/officeDocument/2006/relationships/slide" Target="/ppt/slides/slide4.xml" Id="R94c42f1db3434048" /><Relationship Type="http://schemas.openxmlformats.org/officeDocument/2006/relationships/slide" Target="/ppt/slides/slide5.xml" Id="R81cf6b5f388145b7" /><Relationship Type="http://schemas.openxmlformats.org/officeDocument/2006/relationships/slide" Target="/ppt/slides/slide6.xml" Id="R585523b8c0a042bf" /><Relationship Type="http://schemas.openxmlformats.org/officeDocument/2006/relationships/slide" Target="/ppt/slides/slide7.xml" Id="Re19c68350b23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2badf7536c4d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e8f2802b44855" /><Relationship Type="http://schemas.openxmlformats.org/officeDocument/2006/relationships/notesMaster" Target="/ppt/notesMasters/notesMaster1.xml" Id="R0a6fde2c3d134e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9b786936a6481b" /><Relationship Type="http://schemas.openxmlformats.org/officeDocument/2006/relationships/notesMaster" Target="/ppt/notesMasters/notesMaster1.xml" Id="Rdb74311fa69447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72e1cc0cd14cc5" /><Relationship Type="http://schemas.openxmlformats.org/officeDocument/2006/relationships/notesMaster" Target="/ppt/notesMasters/notesMaster1.xml" Id="R680d935e42f74a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ff095e2a9a47cc" /><Relationship Type="http://schemas.openxmlformats.org/officeDocument/2006/relationships/notesMaster" Target="/ppt/notesMasters/notesMaster1.xml" Id="R32f1aa9e4057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db448b6be646af" /><Relationship Type="http://schemas.openxmlformats.org/officeDocument/2006/relationships/notesMaster" Target="/ppt/notesMasters/notesMaster1.xml" Id="Raa91dc810eb240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045889880a4a15" /><Relationship Type="http://schemas.openxmlformats.org/officeDocument/2006/relationships/notesMaster" Target="/ppt/notesMasters/notesMaster1.xml" Id="R62af6ca0884a4a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488284b0f4470b" /><Relationship Type="http://schemas.openxmlformats.org/officeDocument/2006/relationships/notesMaster" Target="/ppt/notesMasters/notesMaster1.xml" Id="R6a07394c4708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overview. Sources: README.md; docs/hardware.md; docs/architecture.md. Hardware photograph: Media/IMG_3596.jpg. Photo preserves the actual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especially Two Pis in practice; docs/hardware.md; web_server.py; BRH_Test/rover_bridge.py; BRH_Test/driveController/driveController.ino. The laptop hosts Flask and CLIP. Separate Pi processes handle drive and camera/lids. TigerData is a remote PostgreSQL service. Hardware photo: Media/IMG_3597.jpg.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classifier.py MODEL_ID, TARGETS, Classifier.predict; classifier_service.py ItemLock.READINGS and LOCK_SECONDS. Default model is openai/clip-vit-large-patch14. The model compares the whole frame with text candidates, including non-target labels. Only four item families are reported. Three or more readings spanning at least 0.5 seconds form a lock. Relative scores are candidate comparisons, not accuracy probabilities. Screenshot: source recording at 167.5 seconds, actual bottle and recycling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classifier_service.py Service.track; lid.py RemoteLid and Lid; lid_server.py; docs/hardware.md. Live locked readings trigger open Trash or open Recyclable through UDP 5006. The lid Pi controls PCA9685 over I2C, channel 0 trash and channel 3 recycling. HOLD_SECONDS=5 after the last reading. Lid automation must be enabled. Photos do not open lids. Image: Media/IMG_3595.jpg.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BRH_Test/rover_bridge.py set_mode, _camera_loop, _watchdog; BRH_Test/voice_control.py DRIVE_TOOL and DIRECTION_TO_CMD; docs/hardware.md. Website directions support keyboard, touch/mouse. Grok voice uses xAI realtime WebSocket and invokes drive_rover. MediaPipe runs locally; wrist-to-index-tip angle is rounded to five degrees and sent over Bluetooth. Wi-Fi receiver supports WASD, not angles. One driving session at a time. Heartbeat loss beyond 1.5 seconds stops/releases rover. Hand image: Media/HandGuestureProof.png.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BRH_Test/database.py initialize, add_detection, add_collection, bin_contents, empty_bin; dashboard_classifier.py log_detection and auto_recorded; docs/architecture.md Logging and points. Each locked live scan and each photo records item, bin, score, source, time. Unique scan_id avoids duplicate rows as frames repeat. With configured DATABASE_URL the backend uses TigerData PostgreSQL, otherwise SQLite. Lids opening auto-records one collection event per locked scan. The camera does not verify a physical deposit. Photos and disabled lids require manual confirmation. No images stored in the ledger. Screenshot: output/video/assets/live-log-site.png. README.md manual-confirmation wording is older than the current automatic collection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BRH_Test/GEMINI.md; BRH_Test/gemini_guide.py; web/gemini.js. Guide accepts question, optional location and selected photo. Photos are decoded, resized and stripped of EXIF. Submitted content goes to Google Gemini. It is a separate advisory flow with no drive, lid or ledger tools and no live municipal-rule lookup. Screenshot: Media/Gemini-Integration.png.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8d634c37245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83dcca258425f" /><Relationship Type="http://schemas.openxmlformats.org/officeDocument/2006/relationships/slideLayout" Target="/ppt/slideLayouts/slideLayout1.xml" Id="Rc4f2585fc29a45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2585fc29a45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ca151e15e442e" /><Relationship Type="http://schemas.openxmlformats.org/officeDocument/2006/relationships/image" Target="/ppt/media/image.png" Id="R804bdb08582148f3" /><Relationship Type="http://schemas.openxmlformats.org/officeDocument/2006/relationships/image" Target="/ppt/media/image.jpeg" Id="R06aa9e066e124d81" /><Relationship Type="http://schemas.openxmlformats.org/officeDocument/2006/relationships/notesSlide" Target="/ppt/notesSlides/notesSlide1.xml" Id="R3bbbeb05b9904e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7fb3644e44b5d" /><Relationship Type="http://schemas.openxmlformats.org/officeDocument/2006/relationships/image" Target="/ppt/media/image2.png" Id="R73d4a496e35b4a78" /><Relationship Type="http://schemas.openxmlformats.org/officeDocument/2006/relationships/image" Target="/ppt/media/image2.jpeg" Id="Ra7634dd72cd74035" /><Relationship Type="http://schemas.openxmlformats.org/officeDocument/2006/relationships/notesSlide" Target="/ppt/notesSlides/notesSlide2.xml" Id="R7b0e68ff9ce041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66baf80bd4c5f" /><Relationship Type="http://schemas.openxmlformats.org/officeDocument/2006/relationships/image" Target="/ppt/media/image3.png" Id="R83af4a9037674068" /><Relationship Type="http://schemas.openxmlformats.org/officeDocument/2006/relationships/image" Target="/ppt/media/image4.png" Id="R3eb8261e8b9345b4" /><Relationship Type="http://schemas.openxmlformats.org/officeDocument/2006/relationships/notesSlide" Target="/ppt/notesSlides/notesSlide3.xml" Id="R28dc216d899f4c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efdb996fc4e48" /><Relationship Type="http://schemas.openxmlformats.org/officeDocument/2006/relationships/image" Target="/ppt/media/image5.png" Id="Rc5885f1c63d84ce6" /><Relationship Type="http://schemas.openxmlformats.org/officeDocument/2006/relationships/image" Target="/ppt/media/image3.jpeg" Id="Rc9ae3d0c512845e3" /><Relationship Type="http://schemas.openxmlformats.org/officeDocument/2006/relationships/notesSlide" Target="/ppt/notesSlides/notesSlide4.xml" Id="Rf5290f7a96f2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cf27512144c7a" /><Relationship Type="http://schemas.openxmlformats.org/officeDocument/2006/relationships/image" Target="/ppt/media/image6.png" Id="R27480f00652a4493" /><Relationship Type="http://schemas.openxmlformats.org/officeDocument/2006/relationships/image" Target="/ppt/media/image7.png" Id="R1449240d4ef24142" /><Relationship Type="http://schemas.openxmlformats.org/officeDocument/2006/relationships/notesSlide" Target="/ppt/notesSlides/notesSlide5.xml" Id="R93947757f4ab4b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a6331d5ca4cd9" /><Relationship Type="http://schemas.openxmlformats.org/officeDocument/2006/relationships/image" Target="/ppt/media/image8.png" Id="R08f8741eb04440e9" /><Relationship Type="http://schemas.openxmlformats.org/officeDocument/2006/relationships/image" Target="/ppt/media/image9.png" Id="Rb9de2370146842bf" /><Relationship Type="http://schemas.openxmlformats.org/officeDocument/2006/relationships/notesSlide" Target="/ppt/notesSlides/notesSlide6.xml" Id="R1f782c97c7b64a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1053d948d4d46" /><Relationship Type="http://schemas.openxmlformats.org/officeDocument/2006/relationships/image" Target="/ppt/media/image10.png" Id="R85bc63cfd33d43b9" /><Relationship Type="http://schemas.openxmlformats.org/officeDocument/2006/relationships/image" Target="/ppt/media/image11.png" Id="R3cefa1d515564b7c" /><Relationship Type="http://schemas.openxmlformats.org/officeDocument/2006/relationships/notesSlide" Target="/ppt/notesSlides/notesSlide7.xml" Id="Ref4aba220d8f46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bdb08582148f3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D4E34-17A3-45B7-886F-88D560D0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F730-3598-4F7A-AB6B-2FE7987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HACKATHON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90628-173B-4DEB-A280-8462EF4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7174D-0426-40E4-90AE-2ACA4E65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60483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00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Recognize.</a:t>
            </a:r>
          </a:p>
          <a:p xmlns:a="http://schemas.openxmlformats.org/drawingml/2006/main">
            <a:pPr>
              <a:buNone/>
              <a:defRPr sz="600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Sort.</a:t>
            </a:r>
          </a:p>
          <a:p xmlns:a="http://schemas.openxmlformats.org/drawingml/2006/main">
            <a:pPr>
              <a:buNone/>
              <a:defRPr sz="600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Connect.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AE3E5-3CE1-4F75-952A-D3CAC424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950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A mobile trash-sorting rover</a:t>
            </a:r>
          </a:p>
          <a:p xmlns:a="http://schemas.openxmlformats.org/drawingml/2006/main">
            <a:pPr>
              <a:buNone/>
              <a:defRPr sz="21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with local vision and a shared dashboard.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a9e066e124d81"/>
          <a:srcRect xmlns:a="http://schemas.openxmlformats.org/drawingml/2006/main" l="2419" t="0" r="2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428625"/>
            <a:ext cx="4572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44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4a496e35b4a78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C106C-DD25-4595-9A4F-2735D09A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The software and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A7EC2-04BC-423B-B974-4DF76F77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7CE2F-4A43-4D8D-B246-3081FEF7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3FF66-C99A-4155-8032-F85A3F0C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C2272-861C-455D-9AA5-8AD8FA0F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LAPTOP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1860A-7CC5-480C-AE93-AB3759E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Flask serves the dashboard.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CLIP runs inference on the laptop.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DEBE0-1729-4A7C-8991-26CAA46D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480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TWO RASPBERRY 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191DD-0FF2-49D3-A8B7-3E836C04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One relays drive commands.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The other streams the camera and moves lids.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56CC7-4007-444E-82A3-9258FD7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ARDUINO + CNC SHIELD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3DE28-4DA4-466D-A7B5-FB25DA0E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USB serial reaches the motor controller.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Four steppers drive the mecanum wheels.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34dd72cd74035"/>
          <a:srcRect xmlns:a="http://schemas.openxmlformats.org/drawingml/2006/main" l="0" t="11600" r="0" b="11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95500"/>
            <a:ext cx="3571875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1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f4a9037674068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1C9FF-F894-4785-BA64-ED7E7F4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Local CLIP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F8AFE-DFDF-4688-8D0D-9A6D24CE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774CB-60DC-4734-89BF-C37C3C5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3C45E-AFAC-42DD-93B3-9090DB67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1D6FE-8D78-4545-BDFC-89D6623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The laptop compares camera</a:t>
            </a:r>
          </a:p>
          <a:p xmlns:a="http://schemas.openxmlformats.org/drawingml/2006/main">
            <a:pPr>
              <a:buNone/>
              <a:defRPr sz="21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frames with text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71003-076D-4843-8904-72526765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718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CLIP ViT-L/14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3F8B5-0E1C-47BA-A037-DE61B115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RECYCLING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498D1-4011-4577-99B8-87AA72CC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7F4"/>
                </a:solidFill>
                <a:latin typeface="Arial"/>
                <a:ea typeface="Arial"/>
                <a:cs typeface="Arial"/>
              </a:rPr>
              <a:t>Bottle and cardboard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61DD3-239F-4F76-9D77-B97A0AA3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TRASH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C1A5F-C464-4B4D-90DC-EFA445D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81600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7F4"/>
                </a:solidFill>
                <a:latin typeface="Arial"/>
                <a:ea typeface="Arial"/>
                <a:cs typeface="Arial"/>
              </a:rPr>
              <a:t>Paper towel and chip bag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8261e8b9345b4"/>
          <a:stretch xmlns:a="http://schemas.openxmlformats.org/drawingml/2006/main"/>
        </p:blipFill>
        <p:spPr>
          <a:xfrm xmlns:a="http://schemas.openxmlformats.org/drawingml/2006/main">
            <a:off x="4714875" y="2369772"/>
            <a:ext cx="6953250" cy="266138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F8405-A2D9-4EC2-B50B-8A6C2E84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34000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Three readings over at least 0.5 seconds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produce a stable item 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6C213-50D9-4696-B4E3-A41ACE52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721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Other labels return no supported item. Match scores compare candidates.</a:t>
            </a:r>
          </a:p>
        </p:txBody>
      </p:sp>
    </p:spTree>
    <p:extLst>
      <p:ext uri="{BB962C8B-B14F-4D97-AF65-F5344CB8AC3E}">
        <p14:creationId xmlns:p14="http://schemas.microsoft.com/office/powerpoint/2010/main" val="1257792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85f1c63d84ce6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3B900-2D71-4088-B32F-E21372B6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A detection opens the matching lid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06C84-1BA7-48CF-9621-1FEA6FB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1292C-DAD4-4F15-9B6A-6C35952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75CAA-B410-4A49-ACEE-1029BC4D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3ADD4-DF57-4A2A-9DC7-DB3C306D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LIVE ITEM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CB53E-B279-4EB2-A61A-8F87F187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The laptop sends the bin command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over Wi-Fi UDP to the lid 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44DBD-D6B9-4B36-9F72-620DE84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CALIBRATED SERVO 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C7C24-D15D-471D-9754-6F820BB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The Pi drives the PCA9685 over I²C.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Each bin has its own servo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12FE4-0FC2-409B-A627-955CAC4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AUTOMATIC CLOSE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501F5-4394-4392-BFEE-CBFB24B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The lid stays open for about 5 seconds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after the last matching reading.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e3d0c512845e3"/>
          <a:srcRect xmlns:a="http://schemas.openxmlformats.org/drawingml/2006/main" l="0" t="72" r="0" b="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181225"/>
            <a:ext cx="3905250" cy="37814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A6F8C-958C-4161-9B01-58823657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9122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Automatic lids use live scans when enabled. Photo uploads do not open lids.</a:t>
            </a:r>
          </a:p>
        </p:txBody>
      </p:sp>
    </p:spTree>
    <p:extLst>
      <p:ext uri="{BB962C8B-B14F-4D97-AF65-F5344CB8AC3E}">
        <p14:creationId xmlns:p14="http://schemas.microsoft.com/office/powerpoint/2010/main" val="1067881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80f00652a4493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29BD3-DAB4-4999-888B-201194B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Website, voice and hand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6AE9F-3696-4CA2-B5ED-BC96BF12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DB957-A6C7-466C-B8F5-24D53D67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B2951-EFD2-44AC-8DD3-8BEE5A19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E30D9-5ADC-480B-A117-8B117C6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WEBSITE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61082-14AE-48B8-817F-83BAC8AC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Direction buttons and throttle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send commands through the rover bridge.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0A47D-EEC1-4C0C-B4C9-587E3B1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GROK 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CEBE8-8878-4C26-91C1-16DD9489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4332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Spoken directions call a drive tool.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The bridge sends the motor command.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1D3CB-4C95-4DF8-BF15-688B429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MEDIAPIPE HAND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3B7D6-C3FA-4EDA-A59A-0B7E6D7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434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Wrist-to-fingertip angle sets direction.</a:t>
            </a:r>
          </a:p>
          <a:p xmlns:a="http://schemas.openxmlformats.org/drawingml/2006/main">
            <a:pPr>
              <a:buNone/>
              <a:defRPr sz="18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Bluetooth carries the angle to the rover.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9240d4ef24142"/>
          <a:stretch xmlns:a="http://schemas.openxmlformats.org/drawingml/2006/main"/>
        </p:blipFill>
        <p:spPr>
          <a:xfrm xmlns:a="http://schemas.openxmlformats.org/drawingml/2006/main">
            <a:off x="8477250" y="2167512"/>
            <a:ext cx="3190875" cy="3465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5394D-9274-4351-94A2-2066993E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One driving browser at a time. A missing heartbeat stops the rover after 1.5 seconds.</a:t>
            </a:r>
          </a:p>
        </p:txBody>
      </p:sp>
    </p:spTree>
    <p:extLst>
      <p:ext uri="{BB962C8B-B14F-4D97-AF65-F5344CB8AC3E}">
        <p14:creationId xmlns:p14="http://schemas.microsoft.com/office/powerpoint/2010/main" val="93518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8741eb04440e9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936D-BC45-4737-B3EA-547AE990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Every detection has a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49FB-CF97-4994-9B78-00911C2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CC913-4761-4AD7-94C1-D29C712F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D4D22-5EED-4D0D-B62E-EA379E4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25DE8-050E-4D38-8243-48A4BB72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TigerData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727BC-5DD0-43E8-AB37-37DE9A7B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1114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Computers and phones access the same history</a:t>
            </a:r>
          </a:p>
          <a:p xmlns:a="http://schemas.openxmlformats.org/drawingml/2006/main">
            <a:pPr>
              <a:buNone/>
              <a:defRPr sz="2175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through the dashboard.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e2370146842bf"/>
          <a:stretch xmlns:a="http://schemas.openxmlformats.org/drawingml/2006/main"/>
        </p:blipFill>
        <p:spPr>
          <a:xfrm xmlns:a="http://schemas.openxmlformats.org/drawingml/2006/main">
            <a:off x="2166439" y="3667125"/>
            <a:ext cx="7859123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A22EB-38C1-4EF0-8BC3-DFE942B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194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FF7F4"/>
                </a:solidFill>
                <a:latin typeface="Arial"/>
                <a:ea typeface="Arial"/>
                <a:cs typeface="Arial"/>
              </a:rPr>
              <a:t>One scan ID prevents repeat frames from creating duplicate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1CB9F-5F72-48D9-A08B-6640B834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The ledger stores metadata, not camera images. Lid openings record collection events.</a:t>
            </a:r>
          </a:p>
        </p:txBody>
      </p:sp>
    </p:spTree>
    <p:extLst>
      <p:ext uri="{BB962C8B-B14F-4D97-AF65-F5344CB8AC3E}">
        <p14:creationId xmlns:p14="http://schemas.microsoft.com/office/powerpoint/2010/main" val="17309830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c63cfd33d43b9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8E38F-28DE-431D-9A3C-BDC07D3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1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FF7F4"/>
                </a:solidFill>
                <a:latin typeface="Arial"/>
                <a:ea typeface="Arial"/>
                <a:cs typeface="Arial"/>
              </a:rPr>
              <a:t>Gemini guidance for unfamiliar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E1BAC-7941-42ED-BA6A-C35F1E49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A951C-31D0-400D-83C5-BA27AB4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ABE9D-60B3-47A0-A65C-FE42263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3B8B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749CE-F362-4EBD-9D71-E56C9DA7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681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Upload a photo or ask about</a:t>
            </a:r>
          </a:p>
          <a:p xmlns:a="http://schemas.openxmlformats.org/drawingml/2006/main">
            <a:pPr>
              <a:buNone/>
              <a:defRPr sz="2250" b="1">
                <a:solidFill>
                  <a:srgbClr val="A2EFB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2EFB6"/>
                </a:solidFill>
                <a:latin typeface="Arial"/>
                <a:ea typeface="Arial"/>
                <a:cs typeface="Arial"/>
              </a:rPr>
              <a:t>an unfamiliar item.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CC9F6-229A-4783-A784-03D29B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681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FF7F4"/>
                </a:solidFill>
                <a:latin typeface="Arial"/>
                <a:ea typeface="Arial"/>
                <a:cs typeface="Arial"/>
              </a:rPr>
              <a:t>Material guidance</a:t>
            </a:r>
          </a:p>
          <a:p xmlns:a="http://schemas.openxmlformats.org/drawingml/2006/main">
            <a:pPr>
              <a:buNone/>
              <a:defRPr sz="2325" b="0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FF7F4"/>
                </a:solidFill>
                <a:latin typeface="Arial"/>
                <a:ea typeface="Arial"/>
                <a:cs typeface="Arial"/>
              </a:rPr>
              <a:t>Preparation steps</a:t>
            </a:r>
          </a:p>
          <a:p xmlns:a="http://schemas.openxmlformats.org/drawingml/2006/main">
            <a:pPr>
              <a:buNone/>
              <a:defRPr sz="2325" b="0">
                <a:solidFill>
                  <a:srgbClr val="EFF7F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FF7F4"/>
                </a:solidFill>
                <a:latin typeface="Arial"/>
                <a:ea typeface="Arial"/>
                <a:cs typeface="Arial"/>
              </a:rPr>
              <a:t>Reuse ideas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AF7D2-9349-435A-96C0-B1A7E8D1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76825"/>
            <a:ext cx="681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Advice stays separate from local CLIP</a:t>
            </a:r>
          </a:p>
          <a:p xmlns:a="http://schemas.openxmlformats.org/drawingml/2006/main">
            <a:pPr>
              <a:buNone/>
              <a:defRPr sz="1950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recognition and rover control.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fa1d515564b7c"/>
          <a:stretch xmlns:a="http://schemas.openxmlformats.org/drawingml/2006/main"/>
        </p:blipFill>
        <p:spPr>
          <a:xfrm xmlns:a="http://schemas.openxmlformats.org/drawingml/2006/main">
            <a:off x="7780266" y="2219325"/>
            <a:ext cx="3727593" cy="36861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F225F-9759-463A-B7F8-F7FA9A93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A3B8B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3B8B6"/>
                </a:solidFill>
                <a:latin typeface="Arial"/>
                <a:ea typeface="Arial"/>
                <a:cs typeface="Arial"/>
              </a:rPr>
              <a:t>Gemini processes submitted content in the cloud. The guide does not record drops.</a:t>
            </a:r>
          </a:p>
        </p:txBody>
      </p:sp>
    </p:spTree>
    <p:extLst>
      <p:ext uri="{BB962C8B-B14F-4D97-AF65-F5344CB8AC3E}">
        <p14:creationId xmlns:p14="http://schemas.microsoft.com/office/powerpoint/2010/main" val="194444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2026-10-04T11:21:31.5690000Z</dcterms:created>
  <dcterms:modified xsi:type="dcterms:W3CDTF">2026-10-04T11:21:31.5690000Z</dcterms:modified>
</coreProperties>
</file>