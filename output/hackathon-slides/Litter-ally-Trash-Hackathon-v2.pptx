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ad4fea76874338" /><Relationship Type="http://schemas.openxmlformats.org/officeDocument/2006/relationships/extended-properties" Target="/docProps/app.xml" Id="Rc3f0fa6d5ec940a0" /><Relationship Type="http://schemas.openxmlformats.org/officeDocument/2006/relationships/officeDocument" Target="/ppt/presentation.xml" Id="R078fcd54c660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62d9c870749ed"/>
  </p:sldMasterIdLst>
  <p:notesMasterIdLst>
    <p:notesMasterId xmlns:r="http://schemas.openxmlformats.org/officeDocument/2006/relationships" r:id="R860b5b24d6924ca5"/>
  </p:notesMasterIdLst>
  <p:sldIdLst>
    <p:sldId xmlns:r="http://schemas.openxmlformats.org/officeDocument/2006/relationships" id="256" r:id="R41f5740a67754cf9"/>
    <p:sldId xmlns:r="http://schemas.openxmlformats.org/officeDocument/2006/relationships" id="257" r:id="R567bb0f158ad446c"/>
    <p:sldId xmlns:r="http://schemas.openxmlformats.org/officeDocument/2006/relationships" id="258" r:id="R63ff9203dfd8410d"/>
    <p:sldId xmlns:r="http://schemas.openxmlformats.org/officeDocument/2006/relationships" id="259" r:id="R24362fb829624a7d"/>
    <p:sldId xmlns:r="http://schemas.openxmlformats.org/officeDocument/2006/relationships" id="260" r:id="R55b60bdf58b9430d"/>
    <p:sldId xmlns:r="http://schemas.openxmlformats.org/officeDocument/2006/relationships" id="261" r:id="R1e4c794a6140401a"/>
    <p:sldId xmlns:r="http://schemas.openxmlformats.org/officeDocument/2006/relationships" id="262" r:id="R12755e3e5b6a4a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f9254f6a4641e8" /><Relationship Type="http://schemas.openxmlformats.org/officeDocument/2006/relationships/slideMaster" Target="/ppt/slideMasters/slideMaster1.xml" Id="R00562d9c870749ed" /><Relationship Type="http://schemas.openxmlformats.org/officeDocument/2006/relationships/notesMaster" Target="/ppt/notesMasters/notesMaster1.xml" Id="R860b5b24d6924ca5" /><Relationship Type="http://schemas.openxmlformats.org/officeDocument/2006/relationships/presProps" Target="/ppt/presProps.xml" Id="Ref5117ee32ff4718" /><Relationship Type="http://schemas.openxmlformats.org/officeDocument/2006/relationships/tableStyles" Target="/ppt/tableStyles.xml" Id="R6120f8956ef64cd9" /><Relationship Type="http://schemas.openxmlformats.org/officeDocument/2006/relationships/slide" Target="/ppt/slides/slide1.xml" Id="R41f5740a67754cf9" /><Relationship Type="http://schemas.openxmlformats.org/officeDocument/2006/relationships/slide" Target="/ppt/slides/slide2.xml" Id="R567bb0f158ad446c" /><Relationship Type="http://schemas.openxmlformats.org/officeDocument/2006/relationships/slide" Target="/ppt/slides/slide3.xml" Id="R63ff9203dfd8410d" /><Relationship Type="http://schemas.openxmlformats.org/officeDocument/2006/relationships/slide" Target="/ppt/slides/slide4.xml" Id="R24362fb829624a7d" /><Relationship Type="http://schemas.openxmlformats.org/officeDocument/2006/relationships/slide" Target="/ppt/slides/slide5.xml" Id="R55b60bdf58b9430d" /><Relationship Type="http://schemas.openxmlformats.org/officeDocument/2006/relationships/slide" Target="/ppt/slides/slide6.xml" Id="R1e4c794a6140401a" /><Relationship Type="http://schemas.openxmlformats.org/officeDocument/2006/relationships/slide" Target="/ppt/slides/slide7.xml" Id="R12755e3e5b6a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f2bbe19aaa4a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96ee73c784d96" /><Relationship Type="http://schemas.openxmlformats.org/officeDocument/2006/relationships/notesMaster" Target="/ppt/notesMasters/notesMaster1.xml" Id="R5b4b02f97be943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e64aa8a5b244b2" /><Relationship Type="http://schemas.openxmlformats.org/officeDocument/2006/relationships/notesMaster" Target="/ppt/notesMasters/notesMaster1.xml" Id="Rbf8d5b72b5a543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9a453053b4ceb" /><Relationship Type="http://schemas.openxmlformats.org/officeDocument/2006/relationships/notesMaster" Target="/ppt/notesMasters/notesMaster1.xml" Id="Rf2d997c37c704c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e0b5c50cd04202" /><Relationship Type="http://schemas.openxmlformats.org/officeDocument/2006/relationships/notesMaster" Target="/ppt/notesMasters/notesMaster1.xml" Id="R077bc9b7ff054e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e3d42b81934619" /><Relationship Type="http://schemas.openxmlformats.org/officeDocument/2006/relationships/notesMaster" Target="/ppt/notesMasters/notesMaster1.xml" Id="Rdba2882d29244c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7839e478be4e25" /><Relationship Type="http://schemas.openxmlformats.org/officeDocument/2006/relationships/notesMaster" Target="/ppt/notesMasters/notesMaster1.xml" Id="R13606dad780548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ed1d4a1fcf48f3" /><Relationship Type="http://schemas.openxmlformats.org/officeDocument/2006/relationships/notesMaster" Target="/ppt/notesMasters/notesMaster1.xml" Id="R162adbda2672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overview. Sources: README.md; docs/hardware.md; docs/architecture.md. Hardware photograph: Media/IMG_3596.jpg. Photo preserves the actual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docs/architecture.md, especially Two Pis in practice; docs/hardware.md; web_server.py; BRH_Test/rover_bridge.py; BRH_Test/driveController/driveController.ino. The laptop hosts Flask and CLIP. Separate Pi processes handle drive and camera/lids. TigerData is a remote PostgreSQL service. Hardware photo: Media/IMG_3597.jpg.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classifier.py MODEL_ID, TARGETS, Classifier.predict; classifier_service.py ItemLock.READINGS and LOCK_SECONDS. Default model is openai/clip-vit-large-patch14. The model compares the whole frame with text candidates, including non-target labels. Only four item families are reported. Three or more readings spanning at least 0.5 seconds form a lock. Relative scores are candidate comparisons, not accuracy probabilities. Screenshot: source recording at 167.5 seconds, actual bottle and recycling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classifier_service.py Service.track; lid.py RemoteLid and Lid; lid_server.py; docs/hardware.md. Live locked readings trigger open Trash or open Recyclable through UDP 5006. The lid Pi controls PCA9685 over I2C, channel 0 trash and channel 3 recycling. HOLD_SECONDS=5 after the last reading. Lid automation must be enabled. Photos do not open lids. Image: Media/IMG_3595.jpg.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BRH_Test/rover_bridge.py set_mode, _camera_loop, _watchdog; BRH_Test/voice_control.py DRIVE_TOOL and DIRECTION_TO_CMD; docs/hardware.md. Website directions support keyboard, touch/mouse. Grok voice uses xAI realtime WebSocket and invokes drive_rover. MediaPipe runs locally; wrist-to-index-tip angle is rounded to five degrees and sent over Bluetooth. Wi-Fi receiver supports WASD, not angles. One driving session at a time. Heartbeat loss beyond 1.5 seconds stops/releases rover. Hand image: Media/HandGuestureProof.png.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BRH_Test/database.py initialize, add_detection, add_collection, bin_contents, empty_bin; dashboard_classifier.py log_detection and auto_recorded; docs/architecture.md Logging and points. Each locked live scan and each photo records item, bin, score, source, time. Unique scan_id avoids duplicate rows as frames repeat. With configured DATABASE_URL the backend uses TigerData PostgreSQL, otherwise SQLite. Lids opening auto-records one collection event per locked scan. The camera does not verify a physical deposit. Photos and disabled lids require manual confirmation. No images stored in the ledger. Screenshot: output/video/assets/live-log-site.png. README.md manual-confirmation wording is older than the current automatic collection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BRH_Test/GEMINI.md; BRH_Test/gemini_guide.py; web/gemini.js. Guide accepts question, optional location and selected photo. Photos are decoded, resized and stripped of EXIF. Submitted content goes to Google Gemini. It is a separate advisory flow with no drive, lid or ledger tools and no live municipal-rule lookup. Screenshot: Media/Gemini-Integration.png.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8d271c5624a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021d7c60a14485" /><Relationship Type="http://schemas.openxmlformats.org/officeDocument/2006/relationships/slideLayout" Target="/ppt/slideLayouts/slideLayout1.xml" Id="Raf9d882be6fc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9d882be6fc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0c30c1fb3495e" /><Relationship Type="http://schemas.openxmlformats.org/officeDocument/2006/relationships/image" Target="/ppt/media/image.png" Id="Rfaa0d88640f94e71" /><Relationship Type="http://schemas.openxmlformats.org/officeDocument/2006/relationships/image" Target="/ppt/media/image.jpeg" Id="R76d72973dbcf421e" /><Relationship Type="http://schemas.openxmlformats.org/officeDocument/2006/relationships/notesSlide" Target="/ppt/notesSlides/notesSlide1.xml" Id="R71930d90226b45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0a7cee1524aae" /><Relationship Type="http://schemas.openxmlformats.org/officeDocument/2006/relationships/image" Target="/ppt/media/image2.png" Id="R7dff57e98e444dbd" /><Relationship Type="http://schemas.openxmlformats.org/officeDocument/2006/relationships/image" Target="/ppt/media/image2.jpeg" Id="Rabe1ee246d6c4e7b" /><Relationship Type="http://schemas.openxmlformats.org/officeDocument/2006/relationships/notesSlide" Target="/ppt/notesSlides/notesSlide2.xml" Id="R4b63a48f58c9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15699324f4abc" /><Relationship Type="http://schemas.openxmlformats.org/officeDocument/2006/relationships/image" Target="/ppt/media/image3.png" Id="R53e0ce2413fa448a" /><Relationship Type="http://schemas.openxmlformats.org/officeDocument/2006/relationships/image" Target="/ppt/media/image4.png" Id="Rd5f6b885685d407a" /><Relationship Type="http://schemas.openxmlformats.org/officeDocument/2006/relationships/notesSlide" Target="/ppt/notesSlides/notesSlide3.xml" Id="Reb5db68f3fd44c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36c48a496451b" /><Relationship Type="http://schemas.openxmlformats.org/officeDocument/2006/relationships/image" Target="/ppt/media/image5.png" Id="R0b0a465fe4344e65" /><Relationship Type="http://schemas.openxmlformats.org/officeDocument/2006/relationships/image" Target="/ppt/media/image3.jpeg" Id="R6eb288d509a54d1e" /><Relationship Type="http://schemas.openxmlformats.org/officeDocument/2006/relationships/notesSlide" Target="/ppt/notesSlides/notesSlide4.xml" Id="R79b99e5a707942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694885e7942e0" /><Relationship Type="http://schemas.openxmlformats.org/officeDocument/2006/relationships/image" Target="/ppt/media/image6.png" Id="R0df67b1ad91c4c95" /><Relationship Type="http://schemas.openxmlformats.org/officeDocument/2006/relationships/image" Target="/ppt/media/image7.png" Id="R9770f378b5914d0f" /><Relationship Type="http://schemas.openxmlformats.org/officeDocument/2006/relationships/notesSlide" Target="/ppt/notesSlides/notesSlide5.xml" Id="R6d126aadeef841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bda6e8858473b" /><Relationship Type="http://schemas.openxmlformats.org/officeDocument/2006/relationships/image" Target="/ppt/media/image8.png" Id="R3eb7691d582e4d30" /><Relationship Type="http://schemas.openxmlformats.org/officeDocument/2006/relationships/image" Target="/ppt/media/image9.png" Id="Rd9f4ebe24ebd4298" /><Relationship Type="http://schemas.openxmlformats.org/officeDocument/2006/relationships/notesSlide" Target="/ppt/notesSlides/notesSlide6.xml" Id="R20adce3f1c3d44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242585a78487e" /><Relationship Type="http://schemas.openxmlformats.org/officeDocument/2006/relationships/image" Target="/ppt/media/image10.png" Id="Rbb05c71e1641442f" /><Relationship Type="http://schemas.openxmlformats.org/officeDocument/2006/relationships/image" Target="/ppt/media/image11.png" Id="R14208b8e22224b96" /><Relationship Type="http://schemas.openxmlformats.org/officeDocument/2006/relationships/notesSlide" Target="/ppt/notesSlides/notesSlide7.xml" Id="R8c6dc1cbd1c64a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0d88640f94e71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D4E34-17A3-45B7-886F-88D560D0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5F730-3598-4F7A-AB6B-2FE7987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90628-173B-4DEB-A280-8462EF4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7174D-0426-40E4-90AE-2ACA4E65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57350"/>
            <a:ext cx="60483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Recognize.</a:t>
            </a:r>
          </a:p>
          <a:p xmlns:a="http://schemas.openxmlformats.org/drawingml/2006/main">
            <a:pPr>
              <a:defRPr sz="600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Sort.</a:t>
            </a:r>
          </a:p>
          <a:p xmlns:a="http://schemas.openxmlformats.org/drawingml/2006/main">
            <a:pPr>
              <a:defRPr sz="600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600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AE3E5-3CE1-4F75-952A-D3CAC424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950"/>
            <a:ext cx="619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 mobile trash-sorting rover</a:t>
            </a:r>
          </a:p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with local vision and a shared dashboard.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72973dbcf421e"/>
          <a:srcRect xmlns:a="http://schemas.openxmlformats.org/drawingml/2006/main" l="2419" t="0" r="24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96125" y="428625"/>
            <a:ext cx="4572000" cy="5572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44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f57e98e444dbd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C106C-DD25-4595-9A4F-2735D09A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The software and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A7EC2-04BC-423B-B974-4DF76F77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7CE2F-4A43-4D8D-B246-3081FEF7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3FF66-C99A-4155-8032-F85A3F0C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C2272-861C-455D-9AA5-8AD8FA0F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LAPTOP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1860A-7CC5-480C-AE93-AB3759EC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Flask serves the dashboard.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CLIP runs inference on the laptop.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DEBE0-1729-4A7C-8991-26CAA46D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480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TWO RASPBERRY 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191DD-0FF2-49D3-A8B7-3E836C04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576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One relays drive commands.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other streams the camera and moves lids.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156CC7-4007-444E-82A3-9258FD7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700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ARDUINO + CNC SHIELD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3DE28-4DA4-466D-A7B5-FB25DA0E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700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USB serial reaches the motor controller.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Four steppers drive the mecanum wheels.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1ee246d6c4e7b"/>
          <a:srcRect xmlns:a="http://schemas.openxmlformats.org/drawingml/2006/main" l="0" t="11600" r="0" b="11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095500"/>
            <a:ext cx="3571875" cy="3886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1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0ce2413fa448a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1C9FF-F894-4785-BA64-ED7E7F46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Local CLIP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F8AFE-DFDF-4688-8D0D-9A6D24C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2774CB-60DC-4734-89BF-C37C3C5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3C45E-AFAC-42DD-93B3-9090DB67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1D6FE-8D78-4545-BDFC-89D6623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laptop compares camera</a:t>
            </a:r>
          </a:p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frames with text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71003-076D-4843-8904-72526765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718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CLIP ViT-L/14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3F8B5-0E1C-47BA-A037-DE61B115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2905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RECYCLING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498D1-4011-4577-99B8-87AA72CC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Bottle and cardboard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61DD3-239F-4F76-9D77-B97A0AA3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404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TRASH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C1A5F-C464-4B4D-90DC-EFA445DB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81600"/>
            <a:ext cx="404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Paper towel and chip bag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6b885685d407a"/>
          <a:stretch xmlns:a="http://schemas.openxmlformats.org/drawingml/2006/main"/>
        </p:blipFill>
        <p:spPr>
          <a:xfrm xmlns:a="http://schemas.openxmlformats.org/drawingml/2006/main">
            <a:off x="4714875" y="2369772"/>
            <a:ext cx="6953250" cy="266138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F8405-A2D9-4EC2-B50B-8A6C2E84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334000"/>
            <a:ext cx="676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Three readings over at least 0.5 seconds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produce a stable item lock.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6C213-50D9-4696-B4E3-A41ACE52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7217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Other labels return no supported item. Match scores compare candidates.</a:t>
            </a:r>
          </a:p>
        </p:txBody>
      </p:sp>
    </p:spTree>
    <p:extLst>
      <p:ext uri="{BB962C8B-B14F-4D97-AF65-F5344CB8AC3E}">
        <p14:creationId xmlns:p14="http://schemas.microsoft.com/office/powerpoint/2010/main" val="12577922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a465fe4344e65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3B900-2D71-4088-B32F-E21372B6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A detection opens the matching lid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6C84-1BA7-48CF-9621-1FEA6FB2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1292C-DAD4-4F15-9B6A-6C359528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75CAA-B410-4A49-ACEE-1029BC4D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3ADD4-DF57-4A2A-9DC7-DB3C306D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717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LIVE ITEM LOCK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CB53E-B279-4EB2-A61A-8F87F18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laptop sends the bin command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over Wi-Fi UDP to the lid 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44DBD-D6B9-4B36-9F72-620DE84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CALIBRATED SERVO 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C7C24-D15D-471D-9754-6F820BB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3382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Pi drives the PCA9685 over I²C.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Each bin has its own servo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12FE4-0FC2-409B-A627-955CAC4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AUTOMATIC CLOSE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501F5-4394-4392-BFEE-CBFB24B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657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lid stays open for about 5 seconds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after the last matching reading.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288d509a54d1e"/>
          <a:srcRect xmlns:a="http://schemas.openxmlformats.org/drawingml/2006/main" l="0" t="72" r="0" b="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2181225"/>
            <a:ext cx="3905250" cy="37814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A6F8C-958C-4161-9B01-58823657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91225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Automatic lids use live scans when enabled. Photo uploads do not open lids.</a:t>
            </a:r>
          </a:p>
        </p:txBody>
      </p:sp>
    </p:spTree>
    <p:extLst>
      <p:ext uri="{BB962C8B-B14F-4D97-AF65-F5344CB8AC3E}">
        <p14:creationId xmlns:p14="http://schemas.microsoft.com/office/powerpoint/2010/main" val="1067881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67b1ad91c4c95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29BD3-DAB4-4999-888B-201194B6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Website, voice and hand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6AE9F-3696-4CA2-B5ED-BC96BF12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DB957-A6C7-466C-B8F5-24D53D67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B2951-EFD2-44AC-8DD3-8BEE5A19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E30D9-5ADC-480B-A117-8B117C6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336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WEBSITE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61082-14AE-48B8-817F-83BAC8AC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Direction buttons and throttle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send commands through the rover bridge.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0A47D-EEC1-4C0C-B4C9-587E3B1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GROK 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CEBE8-8878-4C26-91C1-16DD9489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4332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Spoken directions call a drive tool.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bridge sends the motor command.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1D3CB-4C95-4DF8-BF15-688B429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719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MEDIAPIPE HAND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3B7D6-C3FA-4EDA-A59A-0B7E6D7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434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Wrist-to-fingertip angle sets direction.</a:t>
            </a:r>
          </a:p>
          <a:p xmlns:a="http://schemas.openxmlformats.org/drawingml/2006/main">
            <a:pPr>
              <a:defRPr sz="18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Bluetooth carries the angle to the rover.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0f378b5914d0f"/>
          <a:stretch xmlns:a="http://schemas.openxmlformats.org/drawingml/2006/main"/>
        </p:blipFill>
        <p:spPr>
          <a:xfrm xmlns:a="http://schemas.openxmlformats.org/drawingml/2006/main">
            <a:off x="8477250" y="2167512"/>
            <a:ext cx="3190875" cy="3465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5394D-9274-4351-94A2-2066993E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One driving browser at a time. A missing heartbeat stops the rover after 1.5 seconds.</a:t>
            </a:r>
          </a:p>
        </p:txBody>
      </p:sp>
    </p:spTree>
    <p:extLst>
      <p:ext uri="{BB962C8B-B14F-4D97-AF65-F5344CB8AC3E}">
        <p14:creationId xmlns:p14="http://schemas.microsoft.com/office/powerpoint/2010/main" val="93518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7691d582e4d30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5936D-BC45-4737-B3EA-547AE990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Every detection has a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D49FB-CF97-4994-9B78-00911C26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CC913-4761-4AD7-94C1-D29C712F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D4D22-5EED-4D0D-B62E-EA379E45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25DE8-050E-4D38-8243-48A4BB72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52650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TigerData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727BC-5DD0-43E8-AB37-37DE9A7B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76525"/>
            <a:ext cx="1114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Computers and phones access the same history</a:t>
            </a:r>
          </a:p>
          <a:p xmlns:a="http://schemas.openxmlformats.org/drawingml/2006/main">
            <a:pPr>
              <a:defRPr sz="2175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through the dashboard.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4ebe24ebd4298"/>
          <a:stretch xmlns:a="http://schemas.openxmlformats.org/drawingml/2006/main"/>
        </p:blipFill>
        <p:spPr>
          <a:xfrm xmlns:a="http://schemas.openxmlformats.org/drawingml/2006/main">
            <a:off x="2166439" y="3667125"/>
            <a:ext cx="7859123" cy="2305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A22EB-38C1-4EF0-8BC3-DFE942B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194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One scan ID prevents repeat frames from creating duplicate records.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1CB9F-5F72-48D9-A08B-6640B834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The ledger stores metadata, not camera images. Lid openings record collection events.</a:t>
            </a:r>
          </a:p>
        </p:txBody>
      </p:sp>
    </p:spTree>
    <p:extLst>
      <p:ext uri="{BB962C8B-B14F-4D97-AF65-F5344CB8AC3E}">
        <p14:creationId xmlns:p14="http://schemas.microsoft.com/office/powerpoint/2010/main" val="17309830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9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5c71e1641442f"/>
          <a:stretch xmlns:a="http://schemas.openxmlformats.org/drawingml/2006/main"/>
        </p:blipFill>
        <p:spPr>
          <a:xfrm xmlns:a="http://schemas.openxmlformats.org/drawingml/2006/main">
            <a:off x="523875" y="432396"/>
            <a:ext cx="2533650" cy="3734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8E38F-28DE-431D-9A3C-BDC07D3F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1144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3750" b="1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Gemini guidance for unfamiliar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E1BAC-7941-42ED-BA6A-C35F1E49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6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A951C-31D0-400D-83C5-BA27AB4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484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HACKATHON BUILD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ABE9D-60B3-47A0-A65C-FE42263E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48425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B749CE-F362-4EBD-9D71-E56C9DA7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09800"/>
            <a:ext cx="681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Upload a photo or ask about</a:t>
            </a:r>
          </a:p>
          <a:p xmlns:a="http://schemas.openxmlformats.org/drawingml/2006/main">
            <a:pPr>
              <a:defRPr sz="2250" b="1">
                <a:solidFill>
                  <a:srgbClr val="A2EFB6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A2EFB6"/>
                </a:solidFill>
                <a:latin typeface="Segoe UI"/>
                <a:ea typeface="Segoe UI"/>
                <a:cs typeface="Segoe UI"/>
              </a:rPr>
              <a:t>an unfamiliar item.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CC9F6-229A-4783-A784-03D29B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6810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Material guidance</a:t>
            </a:r>
          </a:p>
          <a:p xmlns:a="http://schemas.openxmlformats.org/drawingml/2006/main">
            <a:pPr>
              <a:defRPr sz="2325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Preparation steps</a:t>
            </a:r>
          </a:p>
          <a:p xmlns:a="http://schemas.openxmlformats.org/drawingml/2006/main">
            <a:pPr>
              <a:defRPr sz="2325" b="0">
                <a:solidFill>
                  <a:srgbClr val="EFF7F4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EFF7F4"/>
                </a:solidFill>
                <a:latin typeface="Segoe UI"/>
                <a:ea typeface="Segoe UI"/>
                <a:cs typeface="Segoe UI"/>
              </a:rPr>
              <a:t>Reuse ideas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AF7D2-9349-435A-96C0-B1A7E8D1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76825"/>
            <a:ext cx="681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Advice stays separate from local CLIP</a:t>
            </a:r>
          </a:p>
          <a:p xmlns:a="http://schemas.openxmlformats.org/drawingml/2006/main">
            <a:pPr>
              <a:defRPr sz="19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recognition and rover control.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08b8e22224b96"/>
          <a:stretch xmlns:a="http://schemas.openxmlformats.org/drawingml/2006/main"/>
        </p:blipFill>
        <p:spPr>
          <a:xfrm xmlns:a="http://schemas.openxmlformats.org/drawingml/2006/main">
            <a:off x="7780266" y="2219325"/>
            <a:ext cx="3727593" cy="36861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F225F-9759-463A-B7F8-F7FA9A93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3B8B6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A3B8B6"/>
                </a:solidFill>
                <a:latin typeface="Segoe UI"/>
                <a:ea typeface="Segoe UI"/>
                <a:cs typeface="Segoe UI"/>
              </a:rPr>
              <a:t>Gemini processes submitted content in the cloud. The guide does not record drops.</a:t>
            </a:r>
          </a:p>
        </p:txBody>
      </p:sp>
    </p:spTree>
    <p:extLst>
      <p:ext uri="{BB962C8B-B14F-4D97-AF65-F5344CB8AC3E}">
        <p14:creationId xmlns:p14="http://schemas.microsoft.com/office/powerpoint/2010/main" val="194444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2026-10-04T11:19:23.9410000Z</dcterms:created>
  <dcterms:modified xsi:type="dcterms:W3CDTF">2026-10-04T11:19:23.9410000Z</dcterms:modified>
</coreProperties>
</file>